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3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3665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548640"/>
            <a:ext cx="45720" cy="45720"/>
          </a:xfrm>
          <a:prstGeom prst="ellipse">
            <a:avLst/>
          </a:prstGeom>
          <a:solidFill>
            <a:srgbClr val="263041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1051560"/>
            <a:ext cx="45720" cy="45720"/>
          </a:xfrm>
          <a:prstGeom prst="ellipse">
            <a:avLst/>
          </a:prstGeom>
          <a:solidFill>
            <a:srgbClr val="263041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1554480"/>
            <a:ext cx="45720" cy="45720"/>
          </a:xfrm>
          <a:prstGeom prst="ellipse">
            <a:avLst/>
          </a:prstGeom>
          <a:solidFill>
            <a:srgbClr val="263041"/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2057400"/>
            <a:ext cx="45720" cy="45720"/>
          </a:xfrm>
          <a:prstGeom prst="ellipse">
            <a:avLst/>
          </a:prstGeom>
          <a:solidFill>
            <a:srgbClr val="263041"/>
          </a:solidFill>
          <a:ln/>
        </p:spPr>
      </p:sp>
      <p:sp>
        <p:nvSpPr>
          <p:cNvPr id="6" name="Shape 4"/>
          <p:cNvSpPr/>
          <p:nvPr/>
        </p:nvSpPr>
        <p:spPr>
          <a:xfrm>
            <a:off x="8778240" y="2560320"/>
            <a:ext cx="45720" cy="45720"/>
          </a:xfrm>
          <a:prstGeom prst="ellipse">
            <a:avLst/>
          </a:prstGeom>
          <a:solidFill>
            <a:srgbClr val="263041"/>
          </a:solidFill>
          <a:ln/>
        </p:spPr>
      </p:sp>
      <p:sp>
        <p:nvSpPr>
          <p:cNvPr id="7" name="Shape 5"/>
          <p:cNvSpPr/>
          <p:nvPr/>
        </p:nvSpPr>
        <p:spPr>
          <a:xfrm>
            <a:off x="8778240" y="3063240"/>
            <a:ext cx="45720" cy="45720"/>
          </a:xfrm>
          <a:prstGeom prst="ellipse">
            <a:avLst/>
          </a:prstGeom>
          <a:solidFill>
            <a:srgbClr val="263041"/>
          </a:solidFill>
          <a:ln/>
        </p:spPr>
      </p:sp>
      <p:sp>
        <p:nvSpPr>
          <p:cNvPr id="8" name="Shape 6"/>
          <p:cNvSpPr/>
          <p:nvPr/>
        </p:nvSpPr>
        <p:spPr>
          <a:xfrm>
            <a:off x="9281160" y="548640"/>
            <a:ext cx="45720" cy="45720"/>
          </a:xfrm>
          <a:prstGeom prst="ellipse">
            <a:avLst/>
          </a:prstGeom>
          <a:solidFill>
            <a:srgbClr val="263041"/>
          </a:solidFill>
          <a:ln/>
        </p:spPr>
      </p:sp>
      <p:sp>
        <p:nvSpPr>
          <p:cNvPr id="9" name="Shape 7"/>
          <p:cNvSpPr/>
          <p:nvPr/>
        </p:nvSpPr>
        <p:spPr>
          <a:xfrm>
            <a:off x="9281160" y="1051560"/>
            <a:ext cx="45720" cy="45720"/>
          </a:xfrm>
          <a:prstGeom prst="ellipse">
            <a:avLst/>
          </a:prstGeom>
          <a:solidFill>
            <a:srgbClr val="263041"/>
          </a:solidFill>
          <a:ln/>
        </p:spPr>
      </p:sp>
      <p:sp>
        <p:nvSpPr>
          <p:cNvPr id="10" name="Shape 8"/>
          <p:cNvSpPr/>
          <p:nvPr/>
        </p:nvSpPr>
        <p:spPr>
          <a:xfrm>
            <a:off x="9281160" y="1554480"/>
            <a:ext cx="45720" cy="45720"/>
          </a:xfrm>
          <a:prstGeom prst="ellipse">
            <a:avLst/>
          </a:prstGeom>
          <a:solidFill>
            <a:srgbClr val="263041"/>
          </a:solidFill>
          <a:ln/>
        </p:spPr>
      </p:sp>
      <p:sp>
        <p:nvSpPr>
          <p:cNvPr id="11" name="Shape 9"/>
          <p:cNvSpPr/>
          <p:nvPr/>
        </p:nvSpPr>
        <p:spPr>
          <a:xfrm>
            <a:off x="9281160" y="2057400"/>
            <a:ext cx="45720" cy="45720"/>
          </a:xfrm>
          <a:prstGeom prst="ellipse">
            <a:avLst/>
          </a:prstGeom>
          <a:solidFill>
            <a:srgbClr val="263041"/>
          </a:solidFill>
          <a:ln/>
        </p:spPr>
      </p:sp>
      <p:sp>
        <p:nvSpPr>
          <p:cNvPr id="12" name="Shape 10"/>
          <p:cNvSpPr/>
          <p:nvPr/>
        </p:nvSpPr>
        <p:spPr>
          <a:xfrm>
            <a:off x="9281160" y="2560320"/>
            <a:ext cx="45720" cy="45720"/>
          </a:xfrm>
          <a:prstGeom prst="ellipse">
            <a:avLst/>
          </a:prstGeom>
          <a:solidFill>
            <a:srgbClr val="263041"/>
          </a:solidFill>
          <a:ln/>
        </p:spPr>
      </p:sp>
      <p:sp>
        <p:nvSpPr>
          <p:cNvPr id="13" name="Shape 11"/>
          <p:cNvSpPr/>
          <p:nvPr/>
        </p:nvSpPr>
        <p:spPr>
          <a:xfrm>
            <a:off x="9281160" y="3063240"/>
            <a:ext cx="45720" cy="45720"/>
          </a:xfrm>
          <a:prstGeom prst="ellipse">
            <a:avLst/>
          </a:prstGeom>
          <a:solidFill>
            <a:srgbClr val="263041"/>
          </a:solidFill>
          <a:ln/>
        </p:spPr>
      </p:sp>
      <p:sp>
        <p:nvSpPr>
          <p:cNvPr id="14" name="Shape 12"/>
          <p:cNvSpPr/>
          <p:nvPr/>
        </p:nvSpPr>
        <p:spPr>
          <a:xfrm>
            <a:off x="9784080" y="548640"/>
            <a:ext cx="45720" cy="45720"/>
          </a:xfrm>
          <a:prstGeom prst="ellipse">
            <a:avLst/>
          </a:prstGeom>
          <a:solidFill>
            <a:srgbClr val="263041"/>
          </a:solidFill>
          <a:ln/>
        </p:spPr>
      </p:sp>
      <p:sp>
        <p:nvSpPr>
          <p:cNvPr id="15" name="Shape 13"/>
          <p:cNvSpPr/>
          <p:nvPr/>
        </p:nvSpPr>
        <p:spPr>
          <a:xfrm>
            <a:off x="9784080" y="1051560"/>
            <a:ext cx="45720" cy="45720"/>
          </a:xfrm>
          <a:prstGeom prst="ellipse">
            <a:avLst/>
          </a:prstGeom>
          <a:solidFill>
            <a:srgbClr val="263041"/>
          </a:solidFill>
          <a:ln/>
        </p:spPr>
      </p:sp>
      <p:sp>
        <p:nvSpPr>
          <p:cNvPr id="16" name="Shape 14"/>
          <p:cNvSpPr/>
          <p:nvPr/>
        </p:nvSpPr>
        <p:spPr>
          <a:xfrm>
            <a:off x="9784080" y="1554480"/>
            <a:ext cx="45720" cy="45720"/>
          </a:xfrm>
          <a:prstGeom prst="ellipse">
            <a:avLst/>
          </a:prstGeom>
          <a:solidFill>
            <a:srgbClr val="263041"/>
          </a:solidFill>
          <a:ln/>
        </p:spPr>
      </p:sp>
      <p:sp>
        <p:nvSpPr>
          <p:cNvPr id="17" name="Shape 15"/>
          <p:cNvSpPr/>
          <p:nvPr/>
        </p:nvSpPr>
        <p:spPr>
          <a:xfrm>
            <a:off x="9784080" y="2057400"/>
            <a:ext cx="45720" cy="45720"/>
          </a:xfrm>
          <a:prstGeom prst="ellipse">
            <a:avLst/>
          </a:prstGeom>
          <a:solidFill>
            <a:srgbClr val="263041"/>
          </a:solidFill>
          <a:ln/>
        </p:spPr>
      </p:sp>
      <p:sp>
        <p:nvSpPr>
          <p:cNvPr id="18" name="Shape 16"/>
          <p:cNvSpPr/>
          <p:nvPr/>
        </p:nvSpPr>
        <p:spPr>
          <a:xfrm>
            <a:off x="9784080" y="2560320"/>
            <a:ext cx="45720" cy="45720"/>
          </a:xfrm>
          <a:prstGeom prst="ellipse">
            <a:avLst/>
          </a:prstGeom>
          <a:solidFill>
            <a:srgbClr val="263041"/>
          </a:solidFill>
          <a:ln/>
        </p:spPr>
      </p:sp>
      <p:sp>
        <p:nvSpPr>
          <p:cNvPr id="19" name="Shape 17"/>
          <p:cNvSpPr/>
          <p:nvPr/>
        </p:nvSpPr>
        <p:spPr>
          <a:xfrm>
            <a:off x="9784080" y="3063240"/>
            <a:ext cx="45720" cy="45720"/>
          </a:xfrm>
          <a:prstGeom prst="ellipse">
            <a:avLst/>
          </a:prstGeom>
          <a:solidFill>
            <a:srgbClr val="263041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87000" y="548640"/>
            <a:ext cx="45720" cy="45720"/>
          </a:xfrm>
          <a:prstGeom prst="ellipse">
            <a:avLst/>
          </a:prstGeom>
          <a:solidFill>
            <a:srgbClr val="263041"/>
          </a:solidFill>
          <a:ln/>
        </p:spPr>
      </p:sp>
      <p:sp>
        <p:nvSpPr>
          <p:cNvPr id="21" name="Shape 19"/>
          <p:cNvSpPr/>
          <p:nvPr/>
        </p:nvSpPr>
        <p:spPr>
          <a:xfrm>
            <a:off x="10287000" y="1051560"/>
            <a:ext cx="45720" cy="45720"/>
          </a:xfrm>
          <a:prstGeom prst="ellipse">
            <a:avLst/>
          </a:prstGeom>
          <a:solidFill>
            <a:srgbClr val="263041"/>
          </a:solidFill>
          <a:ln/>
        </p:spPr>
      </p:sp>
      <p:sp>
        <p:nvSpPr>
          <p:cNvPr id="22" name="Shape 20"/>
          <p:cNvSpPr/>
          <p:nvPr/>
        </p:nvSpPr>
        <p:spPr>
          <a:xfrm>
            <a:off x="10287000" y="1554480"/>
            <a:ext cx="45720" cy="45720"/>
          </a:xfrm>
          <a:prstGeom prst="ellipse">
            <a:avLst/>
          </a:prstGeom>
          <a:solidFill>
            <a:srgbClr val="263041"/>
          </a:solidFill>
          <a:ln/>
        </p:spPr>
      </p:sp>
      <p:sp>
        <p:nvSpPr>
          <p:cNvPr id="23" name="Shape 21"/>
          <p:cNvSpPr/>
          <p:nvPr/>
        </p:nvSpPr>
        <p:spPr>
          <a:xfrm>
            <a:off x="10287000" y="2057400"/>
            <a:ext cx="45720" cy="45720"/>
          </a:xfrm>
          <a:prstGeom prst="ellipse">
            <a:avLst/>
          </a:prstGeom>
          <a:solidFill>
            <a:srgbClr val="263041"/>
          </a:solidFill>
          <a:ln/>
        </p:spPr>
      </p:sp>
      <p:sp>
        <p:nvSpPr>
          <p:cNvPr id="24" name="Shape 22"/>
          <p:cNvSpPr/>
          <p:nvPr/>
        </p:nvSpPr>
        <p:spPr>
          <a:xfrm>
            <a:off x="10287000" y="2560320"/>
            <a:ext cx="45720" cy="45720"/>
          </a:xfrm>
          <a:prstGeom prst="ellipse">
            <a:avLst/>
          </a:prstGeom>
          <a:solidFill>
            <a:srgbClr val="263041"/>
          </a:solidFill>
          <a:ln/>
        </p:spPr>
      </p:sp>
      <p:sp>
        <p:nvSpPr>
          <p:cNvPr id="25" name="Shape 23"/>
          <p:cNvSpPr/>
          <p:nvPr/>
        </p:nvSpPr>
        <p:spPr>
          <a:xfrm>
            <a:off x="10287000" y="3063240"/>
            <a:ext cx="45720" cy="45720"/>
          </a:xfrm>
          <a:prstGeom prst="ellipse">
            <a:avLst/>
          </a:prstGeom>
          <a:solidFill>
            <a:srgbClr val="263041"/>
          </a:solidFill>
          <a:ln/>
        </p:spPr>
      </p:sp>
      <p:sp>
        <p:nvSpPr>
          <p:cNvPr id="26" name="Shape 24"/>
          <p:cNvSpPr/>
          <p:nvPr/>
        </p:nvSpPr>
        <p:spPr>
          <a:xfrm>
            <a:off x="10789920" y="548640"/>
            <a:ext cx="45720" cy="45720"/>
          </a:xfrm>
          <a:prstGeom prst="ellipse">
            <a:avLst/>
          </a:prstGeom>
          <a:solidFill>
            <a:srgbClr val="263041"/>
          </a:solidFill>
          <a:ln/>
        </p:spPr>
      </p:sp>
      <p:sp>
        <p:nvSpPr>
          <p:cNvPr id="27" name="Shape 25"/>
          <p:cNvSpPr/>
          <p:nvPr/>
        </p:nvSpPr>
        <p:spPr>
          <a:xfrm>
            <a:off x="10789920" y="1051560"/>
            <a:ext cx="45720" cy="45720"/>
          </a:xfrm>
          <a:prstGeom prst="ellipse">
            <a:avLst/>
          </a:prstGeom>
          <a:solidFill>
            <a:srgbClr val="263041"/>
          </a:solidFill>
          <a:ln/>
        </p:spPr>
      </p:sp>
      <p:sp>
        <p:nvSpPr>
          <p:cNvPr id="28" name="Shape 26"/>
          <p:cNvSpPr/>
          <p:nvPr/>
        </p:nvSpPr>
        <p:spPr>
          <a:xfrm>
            <a:off x="10789920" y="1554480"/>
            <a:ext cx="45720" cy="45720"/>
          </a:xfrm>
          <a:prstGeom prst="ellipse">
            <a:avLst/>
          </a:prstGeom>
          <a:solidFill>
            <a:srgbClr val="263041"/>
          </a:solidFill>
          <a:ln/>
        </p:spPr>
      </p:sp>
      <p:sp>
        <p:nvSpPr>
          <p:cNvPr id="29" name="Shape 27"/>
          <p:cNvSpPr/>
          <p:nvPr/>
        </p:nvSpPr>
        <p:spPr>
          <a:xfrm>
            <a:off x="10789920" y="2057400"/>
            <a:ext cx="45720" cy="45720"/>
          </a:xfrm>
          <a:prstGeom prst="ellipse">
            <a:avLst/>
          </a:prstGeom>
          <a:solidFill>
            <a:srgbClr val="263041"/>
          </a:solidFill>
          <a:ln/>
        </p:spPr>
      </p:sp>
      <p:sp>
        <p:nvSpPr>
          <p:cNvPr id="30" name="Shape 28"/>
          <p:cNvSpPr/>
          <p:nvPr/>
        </p:nvSpPr>
        <p:spPr>
          <a:xfrm>
            <a:off x="10789920" y="2560320"/>
            <a:ext cx="45720" cy="45720"/>
          </a:xfrm>
          <a:prstGeom prst="ellipse">
            <a:avLst/>
          </a:prstGeom>
          <a:solidFill>
            <a:srgbClr val="263041"/>
          </a:solidFill>
          <a:ln/>
        </p:spPr>
      </p:sp>
      <p:sp>
        <p:nvSpPr>
          <p:cNvPr id="31" name="Shape 29"/>
          <p:cNvSpPr/>
          <p:nvPr/>
        </p:nvSpPr>
        <p:spPr>
          <a:xfrm>
            <a:off x="10789920" y="3063240"/>
            <a:ext cx="45720" cy="45720"/>
          </a:xfrm>
          <a:prstGeom prst="ellipse">
            <a:avLst/>
          </a:prstGeom>
          <a:solidFill>
            <a:srgbClr val="263041"/>
          </a:solidFill>
          <a:ln/>
        </p:spPr>
      </p:sp>
      <p:sp>
        <p:nvSpPr>
          <p:cNvPr id="32" name="Shape 30"/>
          <p:cNvSpPr/>
          <p:nvPr/>
        </p:nvSpPr>
        <p:spPr>
          <a:xfrm>
            <a:off x="11292840" y="548640"/>
            <a:ext cx="45720" cy="45720"/>
          </a:xfrm>
          <a:prstGeom prst="ellipse">
            <a:avLst/>
          </a:prstGeom>
          <a:solidFill>
            <a:srgbClr val="263041"/>
          </a:solidFill>
          <a:ln/>
        </p:spPr>
      </p:sp>
      <p:sp>
        <p:nvSpPr>
          <p:cNvPr id="33" name="Shape 31"/>
          <p:cNvSpPr/>
          <p:nvPr/>
        </p:nvSpPr>
        <p:spPr>
          <a:xfrm>
            <a:off x="11292840" y="1051560"/>
            <a:ext cx="45720" cy="45720"/>
          </a:xfrm>
          <a:prstGeom prst="ellipse">
            <a:avLst/>
          </a:prstGeom>
          <a:solidFill>
            <a:srgbClr val="263041"/>
          </a:solidFill>
          <a:ln/>
        </p:spPr>
      </p:sp>
      <p:sp>
        <p:nvSpPr>
          <p:cNvPr id="34" name="Shape 32"/>
          <p:cNvSpPr/>
          <p:nvPr/>
        </p:nvSpPr>
        <p:spPr>
          <a:xfrm>
            <a:off x="11292840" y="1554480"/>
            <a:ext cx="45720" cy="45720"/>
          </a:xfrm>
          <a:prstGeom prst="ellipse">
            <a:avLst/>
          </a:prstGeom>
          <a:solidFill>
            <a:srgbClr val="263041"/>
          </a:solidFill>
          <a:ln/>
        </p:spPr>
      </p:sp>
      <p:sp>
        <p:nvSpPr>
          <p:cNvPr id="35" name="Shape 33"/>
          <p:cNvSpPr/>
          <p:nvPr/>
        </p:nvSpPr>
        <p:spPr>
          <a:xfrm>
            <a:off x="11292840" y="2057400"/>
            <a:ext cx="45720" cy="45720"/>
          </a:xfrm>
          <a:prstGeom prst="ellipse">
            <a:avLst/>
          </a:prstGeom>
          <a:solidFill>
            <a:srgbClr val="263041"/>
          </a:solidFill>
          <a:ln/>
        </p:spPr>
      </p:sp>
      <p:sp>
        <p:nvSpPr>
          <p:cNvPr id="36" name="Shape 34"/>
          <p:cNvSpPr/>
          <p:nvPr/>
        </p:nvSpPr>
        <p:spPr>
          <a:xfrm>
            <a:off x="11292840" y="2560320"/>
            <a:ext cx="45720" cy="45720"/>
          </a:xfrm>
          <a:prstGeom prst="ellipse">
            <a:avLst/>
          </a:prstGeom>
          <a:solidFill>
            <a:srgbClr val="263041"/>
          </a:solidFill>
          <a:ln/>
        </p:spPr>
      </p:sp>
      <p:sp>
        <p:nvSpPr>
          <p:cNvPr id="37" name="Shape 35"/>
          <p:cNvSpPr/>
          <p:nvPr/>
        </p:nvSpPr>
        <p:spPr>
          <a:xfrm>
            <a:off x="11292840" y="3063240"/>
            <a:ext cx="45720" cy="45720"/>
          </a:xfrm>
          <a:prstGeom prst="ellipse">
            <a:avLst/>
          </a:prstGeom>
          <a:solidFill>
            <a:srgbClr val="263041"/>
          </a:solidFill>
          <a:ln/>
        </p:spPr>
      </p:sp>
      <p:sp>
        <p:nvSpPr>
          <p:cNvPr id="38" name="Text 36"/>
          <p:cNvSpPr/>
          <p:nvPr/>
        </p:nvSpPr>
        <p:spPr>
          <a:xfrm>
            <a:off x="731520" y="18745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INTERNSHIP PROJECT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31520" y="228600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Suricata IDS Monitoring</a:t>
            </a:r>
            <a:endParaRPr lang="en-US" sz="4200" dirty="0"/>
          </a:p>
          <a:p>
            <a:pPr marL="0" indent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Dashboard</a:t>
            </a:r>
            <a:endParaRPr lang="en-US" sz="4200" dirty="0"/>
          </a:p>
        </p:txBody>
      </p:sp>
      <p:sp>
        <p:nvSpPr>
          <p:cNvPr id="40" name="Text 38"/>
          <p:cNvSpPr/>
          <p:nvPr/>
        </p:nvSpPr>
        <p:spPr>
          <a:xfrm>
            <a:off x="731520" y="416052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test lab for intrusion detection, plus a dashboard built from scratch to view and manage the alerts.</a:t>
            </a:r>
            <a:endParaRPr lang="en-US" sz="1450" dirty="0"/>
          </a:p>
        </p:txBody>
      </p:sp>
      <p:sp>
        <p:nvSpPr>
          <p:cNvPr id="41" name="Shape 39"/>
          <p:cNvSpPr/>
          <p:nvPr/>
        </p:nvSpPr>
        <p:spPr>
          <a:xfrm>
            <a:off x="731520" y="5074920"/>
            <a:ext cx="2011680" cy="0"/>
          </a:xfrm>
          <a:prstGeom prst="line">
            <a:avLst/>
          </a:prstGeom>
          <a:noFill/>
          <a:ln w="31750">
            <a:solidFill>
              <a:srgbClr val="00D9A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" y="5212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 err="1" smtClean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Sameeha</a:t>
            </a:r>
            <a:r>
              <a:rPr lang="en-US" sz="1300" b="1" dirty="0" smtClean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Shahid | BSCS23157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project covers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parts: a live detection lab, and a dashboard to read what it finds.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074920" cy="4023360"/>
          </a:xfrm>
          <a:prstGeom prst="roundRect">
            <a:avLst>
              <a:gd name="adj" fmla="val 2273"/>
            </a:avLst>
          </a:prstGeom>
          <a:solidFill>
            <a:srgbClr val="F3F5F8"/>
          </a:solidFill>
          <a:ln/>
          <a:effectLst>
            <a:outerShdw blurRad="101600" dist="381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514600"/>
            <a:ext cx="502920" cy="502920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54480" y="253288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Lab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14400" y="3246120"/>
            <a:ext cx="4343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3-VM isolated network on VMware (attacker, target, sensor)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 8.0.6 monitoring the shared subnet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 smtClean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</a:t>
            </a: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generated and captured end-to-end (Nmap, Nikto, brute force, SQLi)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80760" y="2148840"/>
            <a:ext cx="5074920" cy="4023360"/>
          </a:xfrm>
          <a:prstGeom prst="roundRect">
            <a:avLst>
              <a:gd name="adj" fmla="val 2273"/>
            </a:avLst>
          </a:prstGeom>
          <a:solidFill>
            <a:srgbClr val="F3F5F8"/>
          </a:solidFill>
          <a:ln/>
          <a:effectLst>
            <a:outerShdw blurRad="101600" dist="38100" dir="5400000" algn="bl" rotWithShape="0">
              <a:srgbClr val="1A1F2B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46520" y="2514600"/>
            <a:ext cx="502920" cy="502920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86600" y="2532888"/>
            <a:ext cx="3794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446520" y="3246120"/>
            <a:ext cx="434340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scratch with Streamlit, not an off-the-shelf tool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 so alerts are saved, not just in memory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workflow: mark reviewed, false positive, reopen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Filters, grouping, KPIs, and traffic charts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145743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 BASICS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Installing and configuring Suricata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760720" cy="429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from OISF's official PPA for a current, maintained version.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HOME_NET and pointed capture at the correct network interface, so Suricata sees real traffic between the attacker and target.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the rule set with suricata-update (Emerging Threats Open by default).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the config before running it live.</a:t>
            </a:r>
            <a:endParaRPr lang="en-US" sz="140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4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it in the background and confirmed alerts by scanning the target from Kali.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20840" y="1737360"/>
            <a:ext cx="4892040" cy="1234440"/>
          </a:xfrm>
          <a:prstGeom prst="roundRect">
            <a:avLst>
              <a:gd name="adj" fmla="val 6667"/>
            </a:avLst>
          </a:prstGeom>
          <a:solidFill>
            <a:srgbClr val="161B24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95160" y="1874520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5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137,759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6995160" y="2487168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 smtClean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rules </a:t>
            </a: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720840" y="3218688"/>
            <a:ext cx="4892040" cy="1234440"/>
          </a:xfrm>
          <a:prstGeom prst="roundRect">
            <a:avLst>
              <a:gd name="adj" fmla="val 6667"/>
            </a:avLst>
          </a:prstGeom>
          <a:solidFill>
            <a:srgbClr val="161B24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95160" y="3355848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8.0.6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6995160" y="3968496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 version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720840" y="4700016"/>
            <a:ext cx="4892040" cy="1234440"/>
          </a:xfrm>
          <a:prstGeom prst="roundRect">
            <a:avLst>
              <a:gd name="adj" fmla="val 6667"/>
            </a:avLst>
          </a:prstGeom>
          <a:solidFill>
            <a:srgbClr val="161B24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95160" y="4837176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192.168.93.0/24</a:t>
            </a:r>
            <a:endParaRPr lang="en-US" sz="2500" dirty="0"/>
          </a:p>
        </p:txBody>
      </p:sp>
      <p:sp>
        <p:nvSpPr>
          <p:cNvPr id="13" name="Text 11"/>
          <p:cNvSpPr/>
          <p:nvPr/>
        </p:nvSpPr>
        <p:spPr>
          <a:xfrm>
            <a:off x="6995160" y="5449824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monitored subnet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1145743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 RULES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Parts of a rule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has two parts: a header, and a set of options inside the parentheses. Example below is a real rule that fired on my own Nmap traffic.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20116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7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— before the parentheses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6903720" cy="4572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86000"/>
            <a:ext cx="6903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A1F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  PROTOCOL  SRC_IP  SRC_PORT  DIRECTION  DST_IP  DST_PORT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48640" y="29260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0E7C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— inside the parentheses, separated by semicolons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6903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 msg:"..."; sid:NNNNNN; content:"..."; flow:...; classtype:...; 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48640" y="3703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msg / sid / rev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37033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Description, unique ID, and revision number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1605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 / pcre / nocase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429000" y="41605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exact text or pattern to match in the traffic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6177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flow / flowbits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46177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conditions, e.g. only established traffic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50749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fast_pattern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50749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fastest field to check first, out of ~68k rules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5532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 / reference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5532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Severity, tags, and links back to CVEs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threshold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29000" y="59893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repeat alerts, e.g. once per source per 5 min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492240"/>
            <a:ext cx="6903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six rows above are options — they live inside the parentheses, after the header.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35240" y="2011680"/>
            <a:ext cx="4023360" cy="4251960"/>
          </a:xfrm>
          <a:prstGeom prst="roundRect">
            <a:avLst>
              <a:gd name="adj" fmla="val 1364"/>
            </a:avLst>
          </a:prstGeom>
          <a:solidFill>
            <a:srgbClr val="0D1117"/>
          </a:solidFill>
          <a:ln/>
          <a:effectLst>
            <a:outerShdw blurRad="127000" dist="50800" dir="5400000" algn="bl" rotWithShape="0">
              <a:srgbClr val="1A1F2B">
                <a:alpha val="25000"/>
              </a:srgbClr>
            </a:outerShdw>
          </a:effectLst>
        </p:spPr>
      </p:sp>
      <p:pic>
        <p:nvPicPr>
          <p:cNvPr id="24" name="Image 0" descr="/tmp/deck_assets/rule_grep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2148840"/>
            <a:ext cx="3749040" cy="244144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7772400" y="466344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rule, straight from suricata.rules on the sensor VM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1145743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SOURCES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rules come from, and how SIDs work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94360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3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suricata-update list-sources showed 15 free rule feeds beyond ET Open — Abuse.ch, OISF, Stamus, and more.</a:t>
            </a:r>
            <a:endParaRPr lang="en-US" sz="133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3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Enabled every free source at once, about 153,746 rules combined.</a:t>
            </a:r>
            <a:endParaRPr lang="en-US" sz="133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3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 = Signature ID, a rule's own tracking number. It is not the same as a CVE — the two are linked through the rule's reference field.</a:t>
            </a:r>
            <a:endParaRPr lang="en-US" sz="13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3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vendor has a reserved SID range, e.g. 2,000,000+ is Emerging Threats, 3,100,000+ is Stamus.</a:t>
            </a:r>
            <a:endParaRPr lang="en-US" sz="1330" dirty="0"/>
          </a:p>
        </p:txBody>
      </p:sp>
      <p:sp>
        <p:nvSpPr>
          <p:cNvPr id="5" name="Shape 3"/>
          <p:cNvSpPr/>
          <p:nvPr/>
        </p:nvSpPr>
        <p:spPr>
          <a:xfrm>
            <a:off x="6720840" y="1737360"/>
            <a:ext cx="4937760" cy="2148840"/>
          </a:xfrm>
          <a:prstGeom prst="roundRect">
            <a:avLst>
              <a:gd name="adj" fmla="val 2553"/>
            </a:avLst>
          </a:prstGeom>
          <a:solidFill>
            <a:srgbClr val="000000"/>
          </a:solidFill>
          <a:ln/>
        </p:spPr>
      </p:sp>
      <p:pic>
        <p:nvPicPr>
          <p:cNvPr id="6" name="Image 0" descr="/tmp/deck_assets/list_sourc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280" y="1828800"/>
            <a:ext cx="4754880" cy="19659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720840" y="4069080"/>
            <a:ext cx="4937760" cy="2148840"/>
          </a:xfrm>
          <a:prstGeom prst="roundRect">
            <a:avLst>
              <a:gd name="adj" fmla="val 2553"/>
            </a:avLst>
          </a:prstGeom>
          <a:solidFill>
            <a:srgbClr val="000000"/>
          </a:solidFill>
          <a:ln/>
        </p:spPr>
      </p:sp>
      <p:pic>
        <p:nvPicPr>
          <p:cNvPr id="8" name="Image 1" descr="/tmp/deck_assets/fetching_source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4160520"/>
            <a:ext cx="4754880" cy="19659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145743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packet becomes an alert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F3F5F8"/>
          </a:solidFill>
          <a:ln/>
        </p:spPr>
      </p:sp>
      <p:sp>
        <p:nvSpPr>
          <p:cNvPr id="5" name="Shape 3"/>
          <p:cNvSpPr/>
          <p:nvPr/>
        </p:nvSpPr>
        <p:spPr>
          <a:xfrm>
            <a:off x="713232" y="2148840"/>
            <a:ext cx="384048" cy="384048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148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" y="2624328"/>
            <a:ext cx="1636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13232" y="2990088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reaches the sensor's network card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2679192" y="19659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F3F5F8"/>
          </a:solidFill>
          <a:ln/>
        </p:spPr>
      </p:sp>
      <p:sp>
        <p:nvSpPr>
          <p:cNvPr id="10" name="Shape 8"/>
          <p:cNvSpPr/>
          <p:nvPr/>
        </p:nvSpPr>
        <p:spPr>
          <a:xfrm>
            <a:off x="2843784" y="2148840"/>
            <a:ext cx="384048" cy="384048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11" name="Text 9"/>
          <p:cNvSpPr/>
          <p:nvPr/>
        </p:nvSpPr>
        <p:spPr>
          <a:xfrm>
            <a:off x="2843784" y="2148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843784" y="2624328"/>
            <a:ext cx="1636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Decode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843784" y="2990088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Ethernet, IP, TCP, then the protocol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4809744" y="19659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F3F5F8"/>
          </a:solidFill>
          <a:ln/>
        </p:spPr>
      </p:sp>
      <p:sp>
        <p:nvSpPr>
          <p:cNvPr id="15" name="Shape 13"/>
          <p:cNvSpPr/>
          <p:nvPr/>
        </p:nvSpPr>
        <p:spPr>
          <a:xfrm>
            <a:off x="4974336" y="2148840"/>
            <a:ext cx="384048" cy="384048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16" name="Text 14"/>
          <p:cNvSpPr/>
          <p:nvPr/>
        </p:nvSpPr>
        <p:spPr>
          <a:xfrm>
            <a:off x="4974336" y="2148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74336" y="2624328"/>
            <a:ext cx="1636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filter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74336" y="2990088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Quickly narrows down which rules to check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6940296" y="19659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F3F5F8"/>
          </a:solidFill>
          <a:ln/>
        </p:spPr>
      </p:sp>
      <p:sp>
        <p:nvSpPr>
          <p:cNvPr id="20" name="Shape 18"/>
          <p:cNvSpPr/>
          <p:nvPr/>
        </p:nvSpPr>
        <p:spPr>
          <a:xfrm>
            <a:off x="7104888" y="2148840"/>
            <a:ext cx="384048" cy="384048"/>
          </a:xfrm>
          <a:prstGeom prst="ellipse">
            <a:avLst/>
          </a:prstGeom>
          <a:solidFill>
            <a:srgbClr val="0D1117"/>
          </a:solidFill>
          <a:ln/>
        </p:spPr>
      </p:sp>
      <p:sp>
        <p:nvSpPr>
          <p:cNvPr id="21" name="Text 19"/>
          <p:cNvSpPr/>
          <p:nvPr/>
        </p:nvSpPr>
        <p:spPr>
          <a:xfrm>
            <a:off x="7104888" y="2148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104888" y="2624328"/>
            <a:ext cx="1636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 match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04888" y="2990088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rest of that rule's conditions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9070848" y="196596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F3F5F8"/>
          </a:solidFill>
          <a:ln/>
        </p:spPr>
      </p:sp>
      <p:sp>
        <p:nvSpPr>
          <p:cNvPr id="25" name="Shape 23"/>
          <p:cNvSpPr/>
          <p:nvPr/>
        </p:nvSpPr>
        <p:spPr>
          <a:xfrm>
            <a:off x="9235440" y="2148840"/>
            <a:ext cx="384048" cy="384048"/>
          </a:xfrm>
          <a:prstGeom prst="ellipse">
            <a:avLst/>
          </a:prstGeom>
          <a:solidFill>
            <a:srgbClr val="FF4D6D"/>
          </a:solidFill>
          <a:ln/>
        </p:spPr>
      </p:sp>
      <p:sp>
        <p:nvSpPr>
          <p:cNvPr id="26" name="Text 24"/>
          <p:cNvSpPr/>
          <p:nvPr/>
        </p:nvSpPr>
        <p:spPr>
          <a:xfrm>
            <a:off x="9235440" y="21488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235440" y="2624328"/>
            <a:ext cx="16367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Alert + log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235440" y="2990088"/>
            <a:ext cx="163677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3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fast.log and eve.json</a:t>
            </a:r>
            <a:endParaRPr lang="en-US" sz="1030" dirty="0"/>
          </a:p>
        </p:txBody>
      </p:sp>
      <p:sp>
        <p:nvSpPr>
          <p:cNvPr id="29" name="Text 27"/>
          <p:cNvSpPr/>
          <p:nvPr/>
        </p:nvSpPr>
        <p:spPr>
          <a:xfrm>
            <a:off x="548640" y="416052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an Nmap scan from Kali put “Nmap” in its User-Agent. The rule matched on that field and fired within about a second.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548640" y="4846320"/>
            <a:ext cx="10424160" cy="1508760"/>
          </a:xfrm>
          <a:prstGeom prst="roundRect">
            <a:avLst>
              <a:gd name="adj" fmla="val 3636"/>
            </a:avLst>
          </a:prstGeom>
          <a:solidFill>
            <a:srgbClr val="0D1117"/>
          </a:solidFill>
          <a:ln/>
        </p:spPr>
      </p:sp>
      <p:pic>
        <p:nvPicPr>
          <p:cNvPr id="31" name="Image 0" descr="/tmp/deck_assets/live_alert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120" y="4956048"/>
            <a:ext cx="5029200" cy="129844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777240" y="539496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alerts, straight from fast.log during testing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1145743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DATASET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rule files into one JSON dataset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603504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a script (generate_rules_json.py) to download every free rule source and read each rule line by line.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out sid, message, category, flow, and references into one consistent format for every source.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Handled the messy parts: skipped paid sources, unpacked .tar.gz archives, cleaned up broken fields.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0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one searchable JSON file covering malware, phishing, recon, and SQLi rules.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903720" y="1431713"/>
            <a:ext cx="4754880" cy="4935219"/>
          </a:xfrm>
          <a:prstGeom prst="roundRect">
            <a:avLst>
              <a:gd name="adj" fmla="val 1649"/>
            </a:avLst>
          </a:prstGeom>
          <a:solidFill>
            <a:srgbClr val="161B24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223760" y="14664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INCLUDED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223760" y="2168312"/>
            <a:ext cx="3122507" cy="37498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 </a:t>
            </a:r>
            <a:r>
              <a:rPr lang="en-US" sz="1200" b="1" dirty="0" err="1" smtClean="0">
                <a:solidFill>
                  <a:schemeClr val="bg1"/>
                </a:solidFill>
              </a:rPr>
              <a:t>aleksibovellan</a:t>
            </a:r>
            <a:r>
              <a:rPr lang="en-US" sz="1200" b="1" dirty="0" smtClean="0">
                <a:solidFill>
                  <a:schemeClr val="bg1"/>
                </a:solidFill>
              </a:rPr>
              <a:t>/</a:t>
            </a:r>
            <a:r>
              <a:rPr lang="en-US" sz="1200" b="1" dirty="0" err="1" smtClean="0">
                <a:solidFill>
                  <a:schemeClr val="bg1"/>
                </a:solidFill>
              </a:rPr>
              <a:t>nmap</a:t>
            </a:r>
            <a:endParaRPr lang="en-US" sz="1200" b="1" dirty="0">
              <a:solidFill>
                <a:schemeClr val="bg1"/>
              </a:solidFill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  </a:t>
            </a:r>
            <a:r>
              <a:rPr lang="en-US" sz="1200" b="1" dirty="0" smtClean="0">
                <a:solidFill>
                  <a:schemeClr val="bg1"/>
                </a:solidFill>
              </a:rPr>
              <a:t>abuse.ch/</a:t>
            </a:r>
            <a:r>
              <a:rPr lang="en-US" sz="1200" b="1" dirty="0" err="1" smtClean="0">
                <a:solidFill>
                  <a:schemeClr val="bg1"/>
                </a:solidFill>
              </a:rPr>
              <a:t>urlhaus</a:t>
            </a:r>
            <a:endParaRPr lang="en-US" sz="1200" b="1" dirty="0">
              <a:solidFill>
                <a:schemeClr val="bg1"/>
              </a:solidFill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  </a:t>
            </a:r>
            <a:r>
              <a:rPr lang="en-US" sz="1200" b="1" dirty="0" smtClean="0">
                <a:solidFill>
                  <a:schemeClr val="bg1"/>
                </a:solidFill>
              </a:rPr>
              <a:t>abuse.ch/</a:t>
            </a:r>
            <a:r>
              <a:rPr lang="en-US" sz="1200" b="1" dirty="0" err="1" smtClean="0">
                <a:solidFill>
                  <a:schemeClr val="bg1"/>
                </a:solidFill>
              </a:rPr>
              <a:t>feodotracker</a:t>
            </a:r>
            <a:endParaRPr lang="en-US" sz="1200" b="1" dirty="0">
              <a:solidFill>
                <a:schemeClr val="bg1"/>
              </a:solidFill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  </a:t>
            </a:r>
            <a:r>
              <a:rPr lang="en-US" sz="1200" b="1" dirty="0" err="1" smtClean="0">
                <a:solidFill>
                  <a:schemeClr val="bg1"/>
                </a:solidFill>
              </a:rPr>
              <a:t>stamus</a:t>
            </a:r>
            <a:r>
              <a:rPr lang="en-US" sz="1200" b="1" dirty="0" smtClean="0">
                <a:solidFill>
                  <a:schemeClr val="bg1"/>
                </a:solidFill>
              </a:rPr>
              <a:t>/lateral</a:t>
            </a:r>
            <a:endParaRPr lang="en-US" sz="1200" b="1" dirty="0">
              <a:solidFill>
                <a:schemeClr val="bg1"/>
              </a:solidFill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  </a:t>
            </a:r>
            <a:r>
              <a:rPr lang="en-US" sz="1200" b="1" dirty="0" err="1" smtClean="0">
                <a:solidFill>
                  <a:schemeClr val="bg1"/>
                </a:solidFill>
              </a:rPr>
              <a:t>tgreen</a:t>
            </a:r>
            <a:r>
              <a:rPr lang="en-US" sz="1200" b="1" dirty="0" smtClean="0">
                <a:solidFill>
                  <a:schemeClr val="bg1"/>
                </a:solidFill>
              </a:rPr>
              <a:t>/hunting</a:t>
            </a:r>
            <a:endParaRPr lang="en-US" sz="1200" b="1" dirty="0">
              <a:solidFill>
                <a:schemeClr val="bg1"/>
              </a:solidFill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  </a:t>
            </a:r>
            <a:r>
              <a:rPr lang="en-US" sz="1200" b="1" dirty="0" err="1" smtClean="0">
                <a:solidFill>
                  <a:schemeClr val="bg1"/>
                </a:solidFill>
              </a:rPr>
              <a:t>ipfire</a:t>
            </a:r>
            <a:r>
              <a:rPr lang="en-US" sz="1200" b="1" dirty="0" smtClean="0">
                <a:solidFill>
                  <a:schemeClr val="bg1"/>
                </a:solidFill>
              </a:rPr>
              <a:t>/</a:t>
            </a:r>
            <a:r>
              <a:rPr lang="en-US" sz="1200" b="1" dirty="0" err="1" smtClean="0">
                <a:solidFill>
                  <a:schemeClr val="bg1"/>
                </a:solidFill>
              </a:rPr>
              <a:t>dbl</a:t>
            </a:r>
            <a:endParaRPr lang="en-US" sz="1200" b="1" dirty="0">
              <a:solidFill>
                <a:schemeClr val="bg1"/>
              </a:solidFill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  </a:t>
            </a:r>
            <a:r>
              <a:rPr lang="en-US" sz="1200" b="1" dirty="0" err="1" smtClean="0">
                <a:solidFill>
                  <a:schemeClr val="bg1"/>
                </a:solidFill>
              </a:rPr>
              <a:t>pawpatrules</a:t>
            </a:r>
            <a:endParaRPr lang="en-US" sz="1200" b="1" dirty="0">
              <a:solidFill>
                <a:schemeClr val="bg1"/>
              </a:solidFill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  </a:t>
            </a:r>
            <a:r>
              <a:rPr lang="en-US" sz="1200" b="1" dirty="0" smtClean="0">
                <a:solidFill>
                  <a:schemeClr val="bg1"/>
                </a:solidFill>
              </a:rPr>
              <a:t>et/open</a:t>
            </a:r>
            <a:endParaRPr lang="en-US" sz="1200" b="1" dirty="0">
              <a:solidFill>
                <a:schemeClr val="bg1"/>
              </a:solidFill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  </a:t>
            </a:r>
            <a:r>
              <a:rPr lang="en-US" sz="1200" b="1" dirty="0" err="1" smtClean="0">
                <a:solidFill>
                  <a:schemeClr val="bg1"/>
                </a:solidFill>
              </a:rPr>
              <a:t>etnetera</a:t>
            </a:r>
            <a:r>
              <a:rPr lang="en-US" sz="1200" b="1" dirty="0" smtClean="0">
                <a:solidFill>
                  <a:schemeClr val="bg1"/>
                </a:solidFill>
              </a:rPr>
              <a:t>/aggressive</a:t>
            </a:r>
            <a:endParaRPr lang="en-US" sz="1200" b="1" dirty="0">
              <a:solidFill>
                <a:schemeClr val="bg1"/>
              </a:solidFill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  </a:t>
            </a:r>
            <a:r>
              <a:rPr lang="en-US" sz="1200" b="1" dirty="0" smtClean="0">
                <a:solidFill>
                  <a:schemeClr val="bg1"/>
                </a:solidFill>
              </a:rPr>
              <a:t>abuse.ch/sslbl-ja3</a:t>
            </a:r>
            <a:endParaRPr lang="en-US" sz="1200" b="1" dirty="0">
              <a:solidFill>
                <a:schemeClr val="bg1"/>
              </a:solidFill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  </a:t>
            </a:r>
            <a:r>
              <a:rPr lang="en-US" sz="1200" b="1" dirty="0" smtClean="0">
                <a:solidFill>
                  <a:schemeClr val="bg1"/>
                </a:solidFill>
              </a:rPr>
              <a:t>abuse.ch/</a:t>
            </a:r>
            <a:r>
              <a:rPr lang="en-US" sz="1200" b="1" dirty="0" err="1" smtClean="0">
                <a:solidFill>
                  <a:schemeClr val="bg1"/>
                </a:solidFill>
              </a:rPr>
              <a:t>sslbl</a:t>
            </a:r>
            <a:r>
              <a:rPr lang="en-US" sz="1200" b="1" dirty="0" smtClean="0">
                <a:solidFill>
                  <a:schemeClr val="bg1"/>
                </a:solidFill>
              </a:rPr>
              <a:t>-blacklist</a:t>
            </a:r>
            <a:endParaRPr lang="en-US" sz="1200" b="1" dirty="0">
              <a:solidFill>
                <a:schemeClr val="bg1"/>
              </a:solidFill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  </a:t>
            </a:r>
            <a:r>
              <a:rPr lang="en-US" sz="1200" b="1" dirty="0" err="1" smtClean="0">
                <a:solidFill>
                  <a:schemeClr val="bg1"/>
                </a:solidFill>
              </a:rPr>
              <a:t>oisf</a:t>
            </a:r>
            <a:r>
              <a:rPr lang="en-US" sz="1200" b="1" dirty="0" smtClean="0">
                <a:solidFill>
                  <a:schemeClr val="bg1"/>
                </a:solidFill>
              </a:rPr>
              <a:t>/</a:t>
            </a:r>
            <a:r>
              <a:rPr lang="en-US" sz="1200" b="1" dirty="0" err="1" smtClean="0">
                <a:solidFill>
                  <a:schemeClr val="bg1"/>
                </a:solidFill>
              </a:rPr>
              <a:t>trafficid</a:t>
            </a:r>
            <a:endParaRPr lang="en-US" sz="1200" b="1" dirty="0">
              <a:solidFill>
                <a:schemeClr val="bg1"/>
              </a:solidFill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  </a:t>
            </a:r>
            <a:r>
              <a:rPr lang="en-US" sz="1200" b="1" dirty="0" err="1" smtClean="0">
                <a:solidFill>
                  <a:schemeClr val="bg1"/>
                </a:solidFill>
              </a:rPr>
              <a:t>ptrules</a:t>
            </a:r>
            <a:r>
              <a:rPr lang="en-US" sz="1200" b="1" dirty="0" smtClean="0">
                <a:solidFill>
                  <a:schemeClr val="bg1"/>
                </a:solidFill>
              </a:rPr>
              <a:t>/open</a:t>
            </a:r>
            <a:endParaRPr lang="en-US" sz="1200" b="1" dirty="0">
              <a:solidFill>
                <a:schemeClr val="bg1"/>
              </a:solidFill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  </a:t>
            </a:r>
            <a:r>
              <a:rPr lang="en-US" sz="1200" b="1" dirty="0" smtClean="0">
                <a:solidFill>
                  <a:schemeClr val="bg1"/>
                </a:solidFill>
              </a:rPr>
              <a:t>the-hunters-ledger/open</a:t>
            </a:r>
            <a:endParaRPr lang="en-US" sz="1200" b="1" dirty="0">
              <a:solidFill>
                <a:schemeClr val="bg1"/>
              </a:solidFill>
            </a:endParaRPr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00" b="1" dirty="0">
                <a:solidFill>
                  <a:schemeClr val="bg1"/>
                </a:solidFill>
              </a:rPr>
              <a:t>  </a:t>
            </a:r>
            <a:r>
              <a:rPr lang="en-US" sz="1200" b="1" dirty="0" err="1" smtClean="0">
                <a:solidFill>
                  <a:schemeClr val="bg1"/>
                </a:solidFill>
              </a:rPr>
              <a:t>julioliraup</a:t>
            </a:r>
            <a:r>
              <a:rPr lang="en-US" sz="1200" b="1" dirty="0" smtClean="0">
                <a:solidFill>
                  <a:schemeClr val="bg1"/>
                </a:solidFill>
              </a:rPr>
              <a:t>/</a:t>
            </a:r>
            <a:r>
              <a:rPr lang="en-US" sz="1200" b="1" dirty="0" err="1" smtClean="0">
                <a:solidFill>
                  <a:schemeClr val="bg1"/>
                </a:solidFill>
              </a:rPr>
              <a:t>antiphishing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1145743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DETAILS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extra detail for each rule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rule file only has a short message. Proofpoint's own site has more: severity, category, and a full description for each rule.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364992" cy="2286000"/>
          </a:xfrm>
          <a:prstGeom prst="roundRect">
            <a:avLst>
              <a:gd name="adj" fmla="val 3200"/>
            </a:avLst>
          </a:prstGeom>
          <a:solidFill>
            <a:srgbClr val="F3F5F8"/>
          </a:solidFill>
          <a:ln/>
        </p:spPr>
      </p:sp>
      <p:sp>
        <p:nvSpPr>
          <p:cNvPr id="6" name="Shape 4"/>
          <p:cNvSpPr/>
          <p:nvPr/>
        </p:nvSpPr>
        <p:spPr>
          <a:xfrm>
            <a:off x="804672" y="2404872"/>
            <a:ext cx="365760" cy="73152"/>
          </a:xfrm>
          <a:prstGeom prst="roundRect">
            <a:avLst/>
          </a:prstGeom>
          <a:solidFill>
            <a:srgbClr val="00D9A3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532888"/>
            <a:ext cx="2852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 list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04672" y="2971800"/>
            <a:ext cx="28529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all ~71,000 rule IDs from sid-msg.map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169664" y="2148840"/>
            <a:ext cx="3364992" cy="2286000"/>
          </a:xfrm>
          <a:prstGeom prst="roundRect">
            <a:avLst>
              <a:gd name="adj" fmla="val 3200"/>
            </a:avLst>
          </a:prstGeom>
          <a:solidFill>
            <a:srgbClr val="F3F5F8"/>
          </a:solidFill>
          <a:ln/>
        </p:spPr>
      </p:sp>
      <p:sp>
        <p:nvSpPr>
          <p:cNvPr id="10" name="Shape 8"/>
          <p:cNvSpPr/>
          <p:nvPr/>
        </p:nvSpPr>
        <p:spPr>
          <a:xfrm>
            <a:off x="4425696" y="2404872"/>
            <a:ext cx="365760" cy="73152"/>
          </a:xfrm>
          <a:prstGeom prst="roundRect">
            <a:avLst/>
          </a:prstGeom>
          <a:solidFill>
            <a:srgbClr val="00D9A3"/>
          </a:solidFill>
          <a:ln/>
        </p:spPr>
      </p:sp>
      <p:sp>
        <p:nvSpPr>
          <p:cNvPr id="11" name="Text 9"/>
          <p:cNvSpPr/>
          <p:nvPr/>
        </p:nvSpPr>
        <p:spPr>
          <a:xfrm>
            <a:off x="4425696" y="2532888"/>
            <a:ext cx="2852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Scraper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4425696" y="2971800"/>
            <a:ext cx="28529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Playwright + BeautifulSoup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Visits each rule's page and pulls its details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90688" y="2148840"/>
            <a:ext cx="3364992" cy="2286000"/>
          </a:xfrm>
          <a:prstGeom prst="roundRect">
            <a:avLst>
              <a:gd name="adj" fmla="val 3200"/>
            </a:avLst>
          </a:prstGeom>
          <a:solidFill>
            <a:srgbClr val="F3F5F8"/>
          </a:solidFill>
          <a:ln/>
        </p:spPr>
      </p:sp>
      <p:sp>
        <p:nvSpPr>
          <p:cNvPr id="14" name="Shape 12"/>
          <p:cNvSpPr/>
          <p:nvPr/>
        </p:nvSpPr>
        <p:spPr>
          <a:xfrm>
            <a:off x="8046720" y="2404872"/>
            <a:ext cx="365760" cy="73152"/>
          </a:xfrm>
          <a:prstGeom prst="roundRect">
            <a:avLst/>
          </a:prstGeom>
          <a:solidFill>
            <a:srgbClr val="00D9A3"/>
          </a:solidFill>
          <a:ln/>
        </p:spPr>
      </p:sp>
      <p:sp>
        <p:nvSpPr>
          <p:cNvPr id="15" name="Text 13"/>
          <p:cNvSpPr/>
          <p:nvPr/>
        </p:nvSpPr>
        <p:spPr>
          <a:xfrm>
            <a:off x="8046720" y="2532888"/>
            <a:ext cx="2852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Made it reliable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8046720" y="2971800"/>
            <a:ext cx="285292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progress every 25 rules, so it can resume if interrupted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Recovered a corrupted save file by rebuilding it from backups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709160"/>
            <a:ext cx="10881360" cy="1417320"/>
          </a:xfrm>
          <a:prstGeom prst="roundRect">
            <a:avLst>
              <a:gd name="adj" fmla="val 5161"/>
            </a:avLst>
          </a:prstGeom>
          <a:solidFill>
            <a:srgbClr val="0D1117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846320"/>
            <a:ext cx="23545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71,000+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31520" y="5349240"/>
            <a:ext cx="23545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IDs read in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451860" y="4846320"/>
            <a:ext cx="23545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3451860" y="5349240"/>
            <a:ext cx="23545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checked per rule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172200" y="4846320"/>
            <a:ext cx="23545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6172200" y="5349240"/>
            <a:ext cx="23545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saved per checkpoint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892540" y="4846320"/>
            <a:ext cx="23545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0D9A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8892540" y="5349240"/>
            <a:ext cx="23545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description per rule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145743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dashboard is built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Started as a simple script that read alerts into memory. Now it's a Streamlit app backed by a real database, so nothing is lost on refresh or restart.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3429000" cy="1051560"/>
          </a:xfrm>
          <a:prstGeom prst="roundRect">
            <a:avLst>
              <a:gd name="adj" fmla="val 6087"/>
            </a:avLst>
          </a:prstGeom>
          <a:solidFill>
            <a:srgbClr val="161B24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2304288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app.py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49808" y="2651760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app, layout, and tabs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160520" y="2194560"/>
            <a:ext cx="3429000" cy="1051560"/>
          </a:xfrm>
          <a:prstGeom prst="roundRect">
            <a:avLst>
              <a:gd name="adj" fmla="val 6087"/>
            </a:avLst>
          </a:prstGeom>
          <a:solidFill>
            <a:srgbClr val="161B24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61688" y="2304288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ingestor.py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361688" y="2651760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alerts into the database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2194560"/>
            <a:ext cx="3429000" cy="1051560"/>
          </a:xfrm>
          <a:prstGeom prst="roundRect">
            <a:avLst>
              <a:gd name="adj" fmla="val 6087"/>
            </a:avLst>
          </a:prstGeom>
          <a:solidFill>
            <a:srgbClr val="161B24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73568" y="2304288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alert_store.py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973568" y="2651760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review status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3429000" cy="1051560"/>
          </a:xfrm>
          <a:prstGeom prst="roundRect">
            <a:avLst>
              <a:gd name="adj" fmla="val 6087"/>
            </a:avLst>
          </a:prstGeom>
          <a:solidFill>
            <a:srgbClr val="161B24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538728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data_loader.py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49808" y="3886200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the rules catalog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160520" y="3429000"/>
            <a:ext cx="3429000" cy="1051560"/>
          </a:xfrm>
          <a:prstGeom prst="roundRect">
            <a:avLst>
              <a:gd name="adj" fmla="val 6087"/>
            </a:avLst>
          </a:prstGeom>
          <a:solidFill>
            <a:srgbClr val="161B24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61688" y="3538728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filters.py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361688" y="3886200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Sidebar filter logic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72400" y="3429000"/>
            <a:ext cx="3429000" cy="1051560"/>
          </a:xfrm>
          <a:prstGeom prst="roundRect">
            <a:avLst>
              <a:gd name="adj" fmla="val 6087"/>
            </a:avLst>
          </a:prstGeom>
          <a:solidFill>
            <a:srgbClr val="161B24"/>
          </a:solidFill>
          <a:ln w="12700">
            <a:solidFill>
              <a:srgbClr val="26304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73568" y="3538728"/>
            <a:ext cx="3026664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charts.py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973568" y="3886200"/>
            <a:ext cx="30266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charts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4709160"/>
            <a:ext cx="10881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•"/>
            </a:pPr>
            <a:r>
              <a:rPr lang="en-US" sz="118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are saved to a SQLite database, with duplicates filtered out.</a:t>
            </a:r>
            <a:endParaRPr lang="en-US" sz="118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180" dirty="0">
                <a:solidFill>
                  <a:srgbClr val="F5F7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and fixed a bug where two files were fighting over the same table — now one file owns it.</a:t>
            </a:r>
            <a:endParaRPr lang="en-US" sz="1180" dirty="0"/>
          </a:p>
        </p:txBody>
      </p:sp>
      <p:sp>
        <p:nvSpPr>
          <p:cNvPr id="24" name="Text 22"/>
          <p:cNvSpPr/>
          <p:nvPr/>
        </p:nvSpPr>
        <p:spPr>
          <a:xfrm>
            <a:off x="1145743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dashboard can 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37944"/>
            <a:ext cx="292608" cy="29260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5" name="Text 3"/>
          <p:cNvSpPr/>
          <p:nvPr/>
        </p:nvSpPr>
        <p:spPr>
          <a:xfrm>
            <a:off x="987552" y="176479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Review workflow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987552" y="2075688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alerts as reviewed or false positive, and reopen them later</a:t>
            </a:r>
            <a:endParaRPr lang="en-US" sz="1060" dirty="0"/>
          </a:p>
        </p:txBody>
      </p:sp>
      <p:sp>
        <p:nvSpPr>
          <p:cNvPr id="7" name="Shape 5"/>
          <p:cNvSpPr/>
          <p:nvPr/>
        </p:nvSpPr>
        <p:spPr>
          <a:xfrm>
            <a:off x="6172200" y="1837944"/>
            <a:ext cx="292608" cy="29260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8" name="Text 6"/>
          <p:cNvSpPr/>
          <p:nvPr/>
        </p:nvSpPr>
        <p:spPr>
          <a:xfrm>
            <a:off x="6611112" y="1764792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Sort by urgency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611112" y="2075688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Sorts by severity, with 1 as most severe</a:t>
            </a:r>
            <a:endParaRPr lang="en-US" sz="1060" dirty="0"/>
          </a:p>
        </p:txBody>
      </p:sp>
      <p:sp>
        <p:nvSpPr>
          <p:cNvPr id="10" name="Shape 8"/>
          <p:cNvSpPr/>
          <p:nvPr/>
        </p:nvSpPr>
        <p:spPr>
          <a:xfrm>
            <a:off x="548640" y="2898648"/>
            <a:ext cx="292608" cy="29260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1" name="Text 9"/>
          <p:cNvSpPr/>
          <p:nvPr/>
        </p:nvSpPr>
        <p:spPr>
          <a:xfrm>
            <a:off x="987552" y="2825496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repeat alerts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87552" y="3136392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repeated alerts into one row with a count</a:t>
            </a:r>
            <a:endParaRPr lang="en-US" sz="1060" dirty="0"/>
          </a:p>
        </p:txBody>
      </p:sp>
      <p:sp>
        <p:nvSpPr>
          <p:cNvPr id="13" name="Shape 11"/>
          <p:cNvSpPr/>
          <p:nvPr/>
        </p:nvSpPr>
        <p:spPr>
          <a:xfrm>
            <a:off x="6172200" y="2898648"/>
            <a:ext cx="292608" cy="29260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4" name="Text 12"/>
          <p:cNvSpPr/>
          <p:nvPr/>
        </p:nvSpPr>
        <p:spPr>
          <a:xfrm>
            <a:off x="6611112" y="2825496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Search with regex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611112" y="3136392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regex search on signature and IP filters</a:t>
            </a:r>
            <a:endParaRPr lang="en-US" sz="1060" dirty="0"/>
          </a:p>
        </p:txBody>
      </p:sp>
      <p:sp>
        <p:nvSpPr>
          <p:cNvPr id="16" name="Shape 14"/>
          <p:cNvSpPr/>
          <p:nvPr/>
        </p:nvSpPr>
        <p:spPr>
          <a:xfrm>
            <a:off x="548640" y="3959352"/>
            <a:ext cx="292608" cy="29260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7" name="Text 15"/>
          <p:cNvSpPr/>
          <p:nvPr/>
        </p:nvSpPr>
        <p:spPr>
          <a:xfrm>
            <a:off x="987552" y="388620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filters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87552" y="4197096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Severity, confidence, target, direction, and more, grouped in the sidebar</a:t>
            </a:r>
            <a:endParaRPr lang="en-US" sz="1060" dirty="0"/>
          </a:p>
        </p:txBody>
      </p:sp>
      <p:sp>
        <p:nvSpPr>
          <p:cNvPr id="19" name="Shape 17"/>
          <p:cNvSpPr/>
          <p:nvPr/>
        </p:nvSpPr>
        <p:spPr>
          <a:xfrm>
            <a:off x="6172200" y="3959352"/>
            <a:ext cx="292608" cy="29260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20" name="Text 18"/>
          <p:cNvSpPr/>
          <p:nvPr/>
        </p:nvSpPr>
        <p:spPr>
          <a:xfrm>
            <a:off x="6611112" y="3886200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Cleaner look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611112" y="4197096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Color-coded severity, KPI row, consistent theme</a:t>
            </a:r>
            <a:endParaRPr lang="en-US" sz="1060" dirty="0"/>
          </a:p>
        </p:txBody>
      </p:sp>
      <p:sp>
        <p:nvSpPr>
          <p:cNvPr id="22" name="Shape 20"/>
          <p:cNvSpPr/>
          <p:nvPr/>
        </p:nvSpPr>
        <p:spPr>
          <a:xfrm>
            <a:off x="548640" y="5020056"/>
            <a:ext cx="292608" cy="29260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23" name="Text 21"/>
          <p:cNvSpPr/>
          <p:nvPr/>
        </p:nvSpPr>
        <p:spPr>
          <a:xfrm>
            <a:off x="987552" y="4946904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to CSV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87552" y="525780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filtered results from either tab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6172200" y="5020056"/>
            <a:ext cx="292608" cy="29260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26" name="Text 24"/>
          <p:cNvSpPr/>
          <p:nvPr/>
        </p:nvSpPr>
        <p:spPr>
          <a:xfrm>
            <a:off x="6611112" y="4946904"/>
            <a:ext cx="4709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Traffic charts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611112" y="5257800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6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over time, top talkers, protocol breakdown</a:t>
            </a:r>
            <a:endParaRPr lang="en-US" sz="1060" dirty="0"/>
          </a:p>
        </p:txBody>
      </p:sp>
      <p:sp>
        <p:nvSpPr>
          <p:cNvPr id="28" name="Text 26"/>
          <p:cNvSpPr/>
          <p:nvPr/>
        </p:nvSpPr>
        <p:spPr>
          <a:xfrm>
            <a:off x="1145743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0D9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next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43000" y="186537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rule details to the dashboard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249424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the scraped descriptions and severity into the alert view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971800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718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43000" y="291693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Finish GitHub setup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43000" y="3300984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dashboard codebase to a proper repo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023360"/>
            <a:ext cx="384048" cy="384048"/>
          </a:xfrm>
          <a:prstGeom prst="ellipse">
            <a:avLst/>
          </a:prstGeom>
          <a:solidFill>
            <a:srgbClr val="00D9A3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43000" y="3968496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Compare with Snort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43000" y="4352544"/>
            <a:ext cx="9692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at findings side by side with the parallel Snort project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349240"/>
            <a:ext cx="11064240" cy="0"/>
          </a:xfrm>
          <a:prstGeom prst="line">
            <a:avLst/>
          </a:prstGeom>
          <a:noFill/>
          <a:ln w="12700">
            <a:solidFill>
              <a:srgbClr val="26304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5577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0D9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github.com/Sameeha135/suricata-dashboard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6035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5F7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145743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9AA4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</TotalTime>
  <Words>1078</Words>
  <Application>Microsoft Office PowerPoint</Application>
  <PresentationFormat>Widescreen</PresentationFormat>
  <Paragraphs>188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5</cp:revision>
  <dcterms:created xsi:type="dcterms:W3CDTF">2026-08-05T06:13:13Z</dcterms:created>
  <dcterms:modified xsi:type="dcterms:W3CDTF">2026-08-27T10:49:43Z</dcterms:modified>
</cp:coreProperties>
</file>