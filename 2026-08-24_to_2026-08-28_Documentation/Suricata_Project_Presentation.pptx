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665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" name="Shape 7"/>
          <p:cNvSpPr/>
          <p:nvPr/>
        </p:nvSpPr>
        <p:spPr>
          <a:xfrm>
            <a:off x="928116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" name="Shape 8"/>
          <p:cNvSpPr/>
          <p:nvPr/>
        </p:nvSpPr>
        <p:spPr>
          <a:xfrm>
            <a:off x="928116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" name="Shape 9"/>
          <p:cNvSpPr/>
          <p:nvPr/>
        </p:nvSpPr>
        <p:spPr>
          <a:xfrm>
            <a:off x="928116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2" name="Shape 10"/>
          <p:cNvSpPr/>
          <p:nvPr/>
        </p:nvSpPr>
        <p:spPr>
          <a:xfrm>
            <a:off x="928116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3" name="Shape 11"/>
          <p:cNvSpPr/>
          <p:nvPr/>
        </p:nvSpPr>
        <p:spPr>
          <a:xfrm>
            <a:off x="928116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4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5" name="Shape 13"/>
          <p:cNvSpPr/>
          <p:nvPr/>
        </p:nvSpPr>
        <p:spPr>
          <a:xfrm>
            <a:off x="978408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7" name="Shape 15"/>
          <p:cNvSpPr/>
          <p:nvPr/>
        </p:nvSpPr>
        <p:spPr>
          <a:xfrm>
            <a:off x="978408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8" name="Shape 16"/>
          <p:cNvSpPr/>
          <p:nvPr/>
        </p:nvSpPr>
        <p:spPr>
          <a:xfrm>
            <a:off x="978408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9" name="Shape 17"/>
          <p:cNvSpPr/>
          <p:nvPr/>
        </p:nvSpPr>
        <p:spPr>
          <a:xfrm>
            <a:off x="978408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8700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3" name="Shape 21"/>
          <p:cNvSpPr/>
          <p:nvPr/>
        </p:nvSpPr>
        <p:spPr>
          <a:xfrm>
            <a:off x="1028700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4" name="Shape 22"/>
          <p:cNvSpPr/>
          <p:nvPr/>
        </p:nvSpPr>
        <p:spPr>
          <a:xfrm>
            <a:off x="1028700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8700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6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7" name="Shape 25"/>
          <p:cNvSpPr/>
          <p:nvPr/>
        </p:nvSpPr>
        <p:spPr>
          <a:xfrm>
            <a:off x="1078992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8992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29" name="Shape 27"/>
          <p:cNvSpPr/>
          <p:nvPr/>
        </p:nvSpPr>
        <p:spPr>
          <a:xfrm>
            <a:off x="1078992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0" name="Shape 28"/>
          <p:cNvSpPr/>
          <p:nvPr/>
        </p:nvSpPr>
        <p:spPr>
          <a:xfrm>
            <a:off x="1078992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1" name="Shape 29"/>
          <p:cNvSpPr/>
          <p:nvPr/>
        </p:nvSpPr>
        <p:spPr>
          <a:xfrm>
            <a:off x="1078992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2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3" name="Shape 31"/>
          <p:cNvSpPr/>
          <p:nvPr/>
        </p:nvSpPr>
        <p:spPr>
          <a:xfrm>
            <a:off x="112928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4" name="Shape 32"/>
          <p:cNvSpPr/>
          <p:nvPr/>
        </p:nvSpPr>
        <p:spPr>
          <a:xfrm>
            <a:off x="112928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5" name="Shape 33"/>
          <p:cNvSpPr/>
          <p:nvPr/>
        </p:nvSpPr>
        <p:spPr>
          <a:xfrm>
            <a:off x="112928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6" name="Shape 34"/>
          <p:cNvSpPr/>
          <p:nvPr/>
        </p:nvSpPr>
        <p:spPr>
          <a:xfrm>
            <a:off x="112928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7" name="Shape 35"/>
          <p:cNvSpPr/>
          <p:nvPr/>
        </p:nvSpPr>
        <p:spPr>
          <a:xfrm>
            <a:off x="112928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INTERNSHIP PROJECT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1520" y="228600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Suricata IDS Monitoring</a:t>
            </a:r>
            <a:endParaRPr lang="en-US" sz="4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Dashboard</a:t>
            </a:r>
            <a:endParaRPr lang="en-US" sz="4200" dirty="0"/>
          </a:p>
        </p:txBody>
      </p:sp>
      <p:sp>
        <p:nvSpPr>
          <p:cNvPr id="40" name="Text 38"/>
          <p:cNvSpPr/>
          <p:nvPr/>
        </p:nvSpPr>
        <p:spPr>
          <a:xfrm>
            <a:off x="731520" y="41605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lab for intrusion detection, plus a dashboard built from scratch to view and manage the alerts.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731520" y="5074920"/>
            <a:ext cx="2011680" cy="0"/>
          </a:xfrm>
          <a:prstGeom prst="line">
            <a:avLst/>
          </a:prstGeom>
          <a:noFill/>
          <a:ln w="31750">
            <a:solidFill>
              <a:srgbClr val="00D9A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Sameeha</a:t>
            </a:r>
            <a:r>
              <a:rPr lang="en-US" sz="1300" b="1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Shahid | BSCS23157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covers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parts: a live detection lab, and a dashboard to read what it finds.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074920" cy="4023360"/>
          </a:xfrm>
          <a:prstGeom prst="roundRect">
            <a:avLst>
              <a:gd name="adj" fmla="val 2273"/>
            </a:avLst>
          </a:prstGeom>
          <a:solidFill>
            <a:srgbClr val="F3F5F8"/>
          </a:solidFill>
          <a:ln/>
          <a:effectLst>
            <a:outerShdw blurRad="101600" dist="38100" dir="5400000" algn="bl" rotWithShape="0">
              <a:srgbClr val="1A1F2B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14600"/>
            <a:ext cx="502920" cy="5029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53288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Lab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246120"/>
            <a:ext cx="43434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3-VM isolated network on VMware (attacker, target, sensor)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8.0.6 monitoring the shared subnet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~67,948 Emerging Threats Open rules loaded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traffic generated and captured end-to-end (Nmap, Nikto, brute force, SQLi)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2148840"/>
            <a:ext cx="5074920" cy="4023360"/>
          </a:xfrm>
          <a:prstGeom prst="roundRect">
            <a:avLst>
              <a:gd name="adj" fmla="val 2273"/>
            </a:avLst>
          </a:prstGeom>
          <a:solidFill>
            <a:srgbClr val="F3F5F8"/>
          </a:solidFill>
          <a:ln/>
          <a:effectLst>
            <a:outerShdw blurRad="101600" dist="38100" dir="5400000" algn="bl" rotWithShape="0">
              <a:srgbClr val="1A1F2B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514600"/>
            <a:ext cx="502920" cy="5029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86600" y="253288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46520" y="3246120"/>
            <a:ext cx="43434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scratch with Streamlit, not an off-the-shelf tool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so alerts are saved, not just in memory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workflow: mark reviewed, false positive, reopen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Filters, grouping, KPIs, and traffic charts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BASICS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Installing and configuring Suricata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7607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OISF's official PPA for a current, maintained version.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HOME_NET and pointed capture at the correct network interface, so Suricata sees real traffic between the attacker and target.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the rule set with suricata-update (Emerging Threats Open by default).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the config before running it live.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it in the background and confirmed alerts by scanning the target from Kali.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20840" y="1737360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95160" y="187452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67,948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995160" y="248716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loaded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720840" y="3218688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95160" y="3355848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8.0.6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6995160" y="396849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20840" y="4700016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4837176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192.168.93.0/24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6995160" y="544982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subnet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RULES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of a rule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has two parts: a header, and a set of options inside the parentheses. Example below is a real rule that fired on my own Nmap traffic.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7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— before the parentheses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6903720" cy="4572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86000"/>
            <a:ext cx="6903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 PROTOCOL  SRC_IP  SRC_PORT  DIRECTION  DST_IP  DST_PORT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7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— inside the parentheses, separated by semicolons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6903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msg:"..."; sid:NNNNNN; content:"..."; flow:...; classtype:...; 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 / sid / rev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29000" y="37033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unique ID, and revision number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1605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 / pcre / nocase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41605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text or pattern to match in the traffic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/ flowbits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46177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conditions, e.g. only established traffic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fast_pattern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50749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field to check first, out of ~68k rules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5532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 / reference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29000" y="5532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tags, and links back to CVEs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29000" y="59893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repeat alerts, e.g. once per source per 5 min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6903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rows above are options — they live inside the parentheses, after the header.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635240" y="2011680"/>
            <a:ext cx="4023360" cy="4251960"/>
          </a:xfrm>
          <a:prstGeom prst="roundRect">
            <a:avLst>
              <a:gd name="adj" fmla="val 1364"/>
            </a:avLst>
          </a:prstGeom>
          <a:solidFill>
            <a:srgbClr val="0D1117"/>
          </a:solidFill>
          <a:ln/>
          <a:effectLst>
            <a:outerShdw blurRad="127000" dist="50800" dir="5400000" algn="bl" rotWithShape="0">
              <a:srgbClr val="1A1F2B">
                <a:alpha val="25000"/>
              </a:srgbClr>
            </a:outerShdw>
          </a:effectLst>
        </p:spPr>
      </p:sp>
      <p:pic>
        <p:nvPicPr>
          <p:cNvPr id="24" name="Image 0" descr="/tmp/deck_assets/rule_gre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148840"/>
            <a:ext cx="3749040" cy="244144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772400" y="46634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rule, straight from suricata.rules on the sensor VM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SOURCES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rules come from, and how SIDs 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suricata-update list-sources showed 15 free rule feeds beyond ET Open — Abuse.ch, OISF, Stamus, and more.</a:t>
            </a:r>
            <a:endParaRPr lang="en-US" sz="133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every free source at once, about 153,746 rules combined.</a:t>
            </a:r>
            <a:endParaRPr lang="en-US" sz="133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= Signature ID, a rule's own tracking number. It is not the same as a CVE — the two are linked through the rule's reference field.</a:t>
            </a:r>
            <a:endParaRPr lang="en-US" sz="13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vendor has a reserved SID range, e.g. 2,000,000+ is Emerging Threats, 3,100,000+ is Stamus.</a:t>
            </a:r>
            <a:endParaRPr lang="en-US" sz="1330" dirty="0"/>
          </a:p>
        </p:txBody>
      </p:sp>
      <p:sp>
        <p:nvSpPr>
          <p:cNvPr id="5" name="Shape 3"/>
          <p:cNvSpPr/>
          <p:nvPr/>
        </p:nvSpPr>
        <p:spPr>
          <a:xfrm>
            <a:off x="6720840" y="1737360"/>
            <a:ext cx="4937760" cy="2148840"/>
          </a:xfrm>
          <a:prstGeom prst="roundRect">
            <a:avLst>
              <a:gd name="adj" fmla="val 2553"/>
            </a:avLst>
          </a:prstGeom>
          <a:solidFill>
            <a:srgbClr val="000000"/>
          </a:solidFill>
          <a:ln/>
        </p:spPr>
      </p:sp>
      <p:pic>
        <p:nvPicPr>
          <p:cNvPr id="6" name="Image 0" descr="/tmp/deck_assets/list_sour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828800"/>
            <a:ext cx="4754880" cy="1965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720840" y="4069080"/>
            <a:ext cx="4937760" cy="2148840"/>
          </a:xfrm>
          <a:prstGeom prst="roundRect">
            <a:avLst>
              <a:gd name="adj" fmla="val 2553"/>
            </a:avLst>
          </a:prstGeom>
          <a:solidFill>
            <a:srgbClr val="000000"/>
          </a:solidFill>
          <a:ln/>
        </p:spPr>
      </p:sp>
      <p:pic>
        <p:nvPicPr>
          <p:cNvPr id="8" name="Image 1" descr="/tmp/deck_assets/fetching_sourc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160520"/>
            <a:ext cx="4754880" cy="19659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packet becomes an alert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6596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148840"/>
            <a:ext cx="384048" cy="384048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624328"/>
            <a:ext cx="1636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2990088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reaches the sensor's network card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2679192" y="1965960"/>
            <a:ext cx="196596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148840"/>
            <a:ext cx="384048" cy="384048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1" name="Text 9"/>
          <p:cNvSpPr/>
          <p:nvPr/>
        </p:nvSpPr>
        <p:spPr>
          <a:xfrm>
            <a:off x="2843784" y="2148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3784" y="2624328"/>
            <a:ext cx="1636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43784" y="2990088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Ethernet, IP, TCP, then the protocol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809744" y="1965960"/>
            <a:ext cx="196596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974336" y="2148840"/>
            <a:ext cx="384048" cy="384048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4974336" y="2148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74336" y="2624328"/>
            <a:ext cx="1636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filter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74336" y="2990088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 narrows down which rules to check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940296" y="1965960"/>
            <a:ext cx="196596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/>
        </p:spPr>
      </p:sp>
      <p:sp>
        <p:nvSpPr>
          <p:cNvPr id="20" name="Shape 18"/>
          <p:cNvSpPr/>
          <p:nvPr/>
        </p:nvSpPr>
        <p:spPr>
          <a:xfrm>
            <a:off x="7104888" y="2148840"/>
            <a:ext cx="384048" cy="384048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21" name="Text 19"/>
          <p:cNvSpPr/>
          <p:nvPr/>
        </p:nvSpPr>
        <p:spPr>
          <a:xfrm>
            <a:off x="7104888" y="2148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04888" y="2624328"/>
            <a:ext cx="1636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match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04888" y="2990088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rest of that rule's conditions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070848" y="1965960"/>
            <a:ext cx="196596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/>
        </p:spPr>
      </p:sp>
      <p:sp>
        <p:nvSpPr>
          <p:cNvPr id="25" name="Shape 23"/>
          <p:cNvSpPr/>
          <p:nvPr/>
        </p:nvSpPr>
        <p:spPr>
          <a:xfrm>
            <a:off x="9235440" y="2148840"/>
            <a:ext cx="384048" cy="38404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/>
          <p:nvPr/>
        </p:nvSpPr>
        <p:spPr>
          <a:xfrm>
            <a:off x="9235440" y="2148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35440" y="2624328"/>
            <a:ext cx="1636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+ log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35440" y="2990088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fast.log and eve.json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548640" y="4160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an Nmap scan from Kali put “Nmap” in its User-Agent. The rule matched on that field and fired within about a second.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4846320"/>
            <a:ext cx="10424160" cy="150876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/>
        </p:spPr>
      </p:sp>
      <p:pic>
        <p:nvPicPr>
          <p:cNvPr id="31" name="Image 0" descr="/tmp/deck_assets/live_ale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956048"/>
            <a:ext cx="5029200" cy="1298448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77240" y="53949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alerts, straight from fast.log during testing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DATASET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rule files into one JSON dataset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0350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a script (generate_rules_json.py) to download every free rule source and read each rule line by line.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out sid, message, category, flow, and references into one consistent format for every source.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the messy parts: skipped paid sources, unpacked .tar.gz archives, cleaned up broken fields.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one searchable JSON file covering malware, phishing, recon, and SQLi rules.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903720" y="1737360"/>
            <a:ext cx="4754880" cy="4434840"/>
          </a:xfrm>
          <a:prstGeom prst="roundRect">
            <a:avLst>
              <a:gd name="adj" fmla="val 1649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0" y="1965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INCLUDED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0" y="2423160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et/open — Emerging Threats Open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abuse.ch — URLhaus, Feodo, SSL/JA3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ptrules/open — Positive Technologies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oisf/trafficid — protocol classification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stamus/lateral — lateral movement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aleksibovellan/nmap — recon detection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julioliraup, ipfire/dbl, pawpatrules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tgreen/hunting, etnetera, hunters-ledger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DETAILS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extra detail for each rule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file only has a short message. Proofpoint's own site has more: severity, category, and a full description for each rule.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64992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404872"/>
            <a:ext cx="365760" cy="73152"/>
          </a:xfrm>
          <a:prstGeom prst="roundRect">
            <a:avLst/>
          </a:prstGeom>
          <a:solidFill>
            <a:srgbClr val="00D9A3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532888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list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" y="2971800"/>
            <a:ext cx="285292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~71,000 rule IDs from sid-msg.map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69664" y="2148840"/>
            <a:ext cx="3364992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/>
        </p:spPr>
      </p:sp>
      <p:sp>
        <p:nvSpPr>
          <p:cNvPr id="10" name="Shape 8"/>
          <p:cNvSpPr/>
          <p:nvPr/>
        </p:nvSpPr>
        <p:spPr>
          <a:xfrm>
            <a:off x="4425696" y="2404872"/>
            <a:ext cx="365760" cy="73152"/>
          </a:xfrm>
          <a:prstGeom prst="roundRect">
            <a:avLst/>
          </a:prstGeom>
          <a:solidFill>
            <a:srgbClr val="00D9A3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2532888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Scraper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425696" y="2971800"/>
            <a:ext cx="285292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Playwright + BeautifulSoup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each rule's page and pulls its details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90688" y="2148840"/>
            <a:ext cx="3364992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0" y="2404872"/>
            <a:ext cx="365760" cy="73152"/>
          </a:xfrm>
          <a:prstGeom prst="roundRect">
            <a:avLst/>
          </a:prstGeom>
          <a:solidFill>
            <a:srgbClr val="00D9A3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2532888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it reliable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046720" y="2971800"/>
            <a:ext cx="285292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progress every 25 rules, so it can resume if interrupted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a corrupted save file by rebuilding it from backups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0D111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846320"/>
            <a:ext cx="2354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71,000+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31520" y="5349240"/>
            <a:ext cx="23545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IDs read in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451860" y="4846320"/>
            <a:ext cx="2354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451860" y="5349240"/>
            <a:ext cx="23545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checked per rule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72200" y="4846320"/>
            <a:ext cx="2354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172200" y="5349240"/>
            <a:ext cx="23545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saved per checkpoint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892540" y="4846320"/>
            <a:ext cx="2354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892540" y="5349240"/>
            <a:ext cx="23545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description per rule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dashboard is built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as a simple script that read alerts into memory. Now it's a Streamlit app backed by a real database, so nothing is lost on refresh or restart.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304288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265176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app, layout, and tabs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60520" y="219456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61688" y="2304288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ingestor.py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61688" y="265176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alerts into the database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0" y="219456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73568" y="2304288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alert_store.py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73568" y="265176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review status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538728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data_loader.py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88620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rules catalog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60520" y="34290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61688" y="3538728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filters.py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688" y="388620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filter logic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0" y="34290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3538728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charts.py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73568" y="3886200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charts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7091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are saved to a SQLite database, with duplicates filtered out.</a:t>
            </a:r>
            <a:endParaRPr lang="en-US" sz="118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8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bug where two files were fighting over the same table — now one file owns it.</a:t>
            </a:r>
            <a:endParaRPr lang="en-US" sz="1180" dirty="0"/>
          </a:p>
        </p:txBody>
      </p:sp>
      <p:sp>
        <p:nvSpPr>
          <p:cNvPr id="24" name="Text 22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can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37944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5" name="Text 3"/>
          <p:cNvSpPr/>
          <p:nvPr/>
        </p:nvSpPr>
        <p:spPr>
          <a:xfrm>
            <a:off x="987552" y="1764792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workflow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2075688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alerts as reviewed or false positive, and reopen them later</a:t>
            </a:r>
            <a:endParaRPr lang="en-US" sz="1060" dirty="0"/>
          </a:p>
        </p:txBody>
      </p:sp>
      <p:sp>
        <p:nvSpPr>
          <p:cNvPr id="7" name="Shape 5"/>
          <p:cNvSpPr/>
          <p:nvPr/>
        </p:nvSpPr>
        <p:spPr>
          <a:xfrm>
            <a:off x="6172200" y="1837944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8" name="Text 6"/>
          <p:cNvSpPr/>
          <p:nvPr/>
        </p:nvSpPr>
        <p:spPr>
          <a:xfrm>
            <a:off x="6611112" y="1764792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by urgency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611112" y="2075688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by severity, with 1 as most severe</a:t>
            </a:r>
            <a:endParaRPr lang="en-US" sz="106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282549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repeat alerts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87552" y="3136392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repeated alerts into one row with a count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172200" y="2898648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14" name="Text 12"/>
          <p:cNvSpPr/>
          <p:nvPr/>
        </p:nvSpPr>
        <p:spPr>
          <a:xfrm>
            <a:off x="6611112" y="282549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with regex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611112" y="3136392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regex search on signature and IP filters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548640" y="3959352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38862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filters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87552" y="4197096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confidence, target, direction, and more, grouped in the sidebar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6172200" y="3959352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38862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Cleaner look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11112" y="4197096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severity, KPI row, consistent theme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548640" y="5020056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4946904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to CSV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87552" y="5257800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filtered results from either tab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6172200" y="5020056"/>
            <a:ext cx="292608" cy="29260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26" name="Text 24"/>
          <p:cNvSpPr/>
          <p:nvPr/>
        </p:nvSpPr>
        <p:spPr>
          <a:xfrm>
            <a:off x="6611112" y="4946904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 charts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611112" y="5257800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over time, top talkers, protocol breakdown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86537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rule details to the dashboard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224942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scraped descriptions and severity into the alert view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91693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 GitHub setup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330098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dashboard codebase to a proper repo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96849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with Snort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435254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findings side by side with the parallel Snort project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11064240" cy="0"/>
          </a:xfrm>
          <a:prstGeom prst="line">
            <a:avLst/>
          </a:prstGeom>
          <a:noFill/>
          <a:ln w="12700">
            <a:solidFill>
              <a:srgbClr val="2630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577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github.com/Sameeha135/suricata-dashboard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035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5743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1092</Words>
  <Application>Microsoft Office PowerPoint</Application>
  <PresentationFormat>Widescreen</PresentationFormat>
  <Paragraphs>182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Microsoft account</cp:lastModifiedBy>
  <cp:revision>3</cp:revision>
  <dcterms:created xsi:type="dcterms:W3CDTF">2026-08-05T06:13:13Z</dcterms:created>
  <dcterms:modified xsi:type="dcterms:W3CDTF">2026-08-05T10:25:17Z</dcterms:modified>
</cp:coreProperties>
</file>