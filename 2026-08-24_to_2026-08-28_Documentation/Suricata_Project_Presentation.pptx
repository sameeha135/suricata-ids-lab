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92" r:id="rId3"/>
    <p:sldId id="257" r:id="rId4"/>
    <p:sldId id="272" r:id="rId5"/>
    <p:sldId id="287" r:id="rId6"/>
    <p:sldId id="259" r:id="rId7"/>
    <p:sldId id="288" r:id="rId8"/>
    <p:sldId id="297" r:id="rId9"/>
    <p:sldId id="261" r:id="rId10"/>
    <p:sldId id="296" r:id="rId11"/>
    <p:sldId id="289" r:id="rId12"/>
    <p:sldId id="263" r:id="rId13"/>
    <p:sldId id="264" r:id="rId14"/>
    <p:sldId id="294" r:id="rId15"/>
    <p:sldId id="290" r:id="rId16"/>
    <p:sldId id="298" r:id="rId17"/>
    <p:sldId id="266" r:id="rId18"/>
    <p:sldId id="276" r:id="rId19"/>
    <p:sldId id="277" r:id="rId20"/>
    <p:sldId id="295" r:id="rId21"/>
    <p:sldId id="267" r:id="rId22"/>
    <p:sldId id="268" r:id="rId23"/>
    <p:sldId id="269" r:id="rId24"/>
    <p:sldId id="270" r:id="rId25"/>
    <p:sldId id="271" r:id="rId26"/>
    <p:sldId id="291" r:id="rId27"/>
    <p:sldId id="278" r:id="rId28"/>
    <p:sldId id="283" r:id="rId29"/>
    <p:sldId id="275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DEB3"/>
    <a:srgbClr val="F5F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35" autoAdjust="0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3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7590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843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15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195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1900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789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0337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550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2441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4659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8811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0354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2" name="Shape 1"/>
          <p:cNvSpPr/>
          <p:nvPr/>
        </p:nvSpPr>
        <p:spPr>
          <a:xfrm>
            <a:off x="87782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3" name="Shape 2"/>
          <p:cNvSpPr/>
          <p:nvPr/>
        </p:nvSpPr>
        <p:spPr>
          <a:xfrm>
            <a:off x="87782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4" name="Shape 3"/>
          <p:cNvSpPr/>
          <p:nvPr/>
        </p:nvSpPr>
        <p:spPr>
          <a:xfrm>
            <a:off x="87782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5" name="Shape 4"/>
          <p:cNvSpPr/>
          <p:nvPr/>
        </p:nvSpPr>
        <p:spPr>
          <a:xfrm>
            <a:off x="87782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6" name="Shape 5"/>
          <p:cNvSpPr/>
          <p:nvPr/>
        </p:nvSpPr>
        <p:spPr>
          <a:xfrm>
            <a:off x="87782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7" name="Shape 6"/>
          <p:cNvSpPr/>
          <p:nvPr/>
        </p:nvSpPr>
        <p:spPr>
          <a:xfrm>
            <a:off x="928116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8" name="Shape 7"/>
          <p:cNvSpPr/>
          <p:nvPr/>
        </p:nvSpPr>
        <p:spPr>
          <a:xfrm>
            <a:off x="928116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9" name="Shape 8"/>
          <p:cNvSpPr/>
          <p:nvPr/>
        </p:nvSpPr>
        <p:spPr>
          <a:xfrm>
            <a:off x="928116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0" name="Shape 9"/>
          <p:cNvSpPr/>
          <p:nvPr/>
        </p:nvSpPr>
        <p:spPr>
          <a:xfrm>
            <a:off x="928116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1" name="Shape 10"/>
          <p:cNvSpPr/>
          <p:nvPr/>
        </p:nvSpPr>
        <p:spPr>
          <a:xfrm>
            <a:off x="928116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2" name="Shape 11"/>
          <p:cNvSpPr/>
          <p:nvPr/>
        </p:nvSpPr>
        <p:spPr>
          <a:xfrm>
            <a:off x="928116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3" name="Shape 12"/>
          <p:cNvSpPr/>
          <p:nvPr/>
        </p:nvSpPr>
        <p:spPr>
          <a:xfrm>
            <a:off x="978408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4" name="Shape 13"/>
          <p:cNvSpPr/>
          <p:nvPr/>
        </p:nvSpPr>
        <p:spPr>
          <a:xfrm>
            <a:off x="978408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5" name="Shape 14"/>
          <p:cNvSpPr/>
          <p:nvPr/>
        </p:nvSpPr>
        <p:spPr>
          <a:xfrm>
            <a:off x="978408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6" name="Shape 15"/>
          <p:cNvSpPr/>
          <p:nvPr/>
        </p:nvSpPr>
        <p:spPr>
          <a:xfrm>
            <a:off x="978408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7" name="Shape 16"/>
          <p:cNvSpPr/>
          <p:nvPr/>
        </p:nvSpPr>
        <p:spPr>
          <a:xfrm>
            <a:off x="978408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8" name="Shape 17"/>
          <p:cNvSpPr/>
          <p:nvPr/>
        </p:nvSpPr>
        <p:spPr>
          <a:xfrm>
            <a:off x="978408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9" name="Shape 18"/>
          <p:cNvSpPr/>
          <p:nvPr/>
        </p:nvSpPr>
        <p:spPr>
          <a:xfrm>
            <a:off x="1028700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0" name="Shape 19"/>
          <p:cNvSpPr/>
          <p:nvPr/>
        </p:nvSpPr>
        <p:spPr>
          <a:xfrm>
            <a:off x="1028700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1" name="Shape 20"/>
          <p:cNvSpPr/>
          <p:nvPr/>
        </p:nvSpPr>
        <p:spPr>
          <a:xfrm>
            <a:off x="1028700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2" name="Shape 21"/>
          <p:cNvSpPr/>
          <p:nvPr/>
        </p:nvSpPr>
        <p:spPr>
          <a:xfrm>
            <a:off x="1028700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3" name="Shape 22"/>
          <p:cNvSpPr/>
          <p:nvPr/>
        </p:nvSpPr>
        <p:spPr>
          <a:xfrm>
            <a:off x="1028700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4" name="Shape 23"/>
          <p:cNvSpPr/>
          <p:nvPr/>
        </p:nvSpPr>
        <p:spPr>
          <a:xfrm>
            <a:off x="1028700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5" name="Shape 24"/>
          <p:cNvSpPr/>
          <p:nvPr/>
        </p:nvSpPr>
        <p:spPr>
          <a:xfrm>
            <a:off x="1078992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6" name="Shape 25"/>
          <p:cNvSpPr/>
          <p:nvPr/>
        </p:nvSpPr>
        <p:spPr>
          <a:xfrm>
            <a:off x="1078992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7" name="Shape 26"/>
          <p:cNvSpPr/>
          <p:nvPr/>
        </p:nvSpPr>
        <p:spPr>
          <a:xfrm>
            <a:off x="1078992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8" name="Shape 27"/>
          <p:cNvSpPr/>
          <p:nvPr/>
        </p:nvSpPr>
        <p:spPr>
          <a:xfrm>
            <a:off x="1078992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9" name="Shape 28"/>
          <p:cNvSpPr/>
          <p:nvPr/>
        </p:nvSpPr>
        <p:spPr>
          <a:xfrm>
            <a:off x="1078992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0" name="Shape 29"/>
          <p:cNvSpPr/>
          <p:nvPr/>
        </p:nvSpPr>
        <p:spPr>
          <a:xfrm>
            <a:off x="1078992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1" name="Shape 30"/>
          <p:cNvSpPr/>
          <p:nvPr/>
        </p:nvSpPr>
        <p:spPr>
          <a:xfrm>
            <a:off x="112928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2" name="Shape 31"/>
          <p:cNvSpPr/>
          <p:nvPr/>
        </p:nvSpPr>
        <p:spPr>
          <a:xfrm>
            <a:off x="112928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3" name="Shape 32"/>
          <p:cNvSpPr/>
          <p:nvPr/>
        </p:nvSpPr>
        <p:spPr>
          <a:xfrm>
            <a:off x="112928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4" name="Shape 33"/>
          <p:cNvSpPr/>
          <p:nvPr/>
        </p:nvSpPr>
        <p:spPr>
          <a:xfrm>
            <a:off x="112928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5" name="Shape 34"/>
          <p:cNvSpPr/>
          <p:nvPr/>
        </p:nvSpPr>
        <p:spPr>
          <a:xfrm>
            <a:off x="112928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6" name="Shape 35"/>
          <p:cNvSpPr/>
          <p:nvPr/>
        </p:nvSpPr>
        <p:spPr>
          <a:xfrm>
            <a:off x="112928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7" name="Text 36"/>
          <p:cNvSpPr/>
          <p:nvPr/>
        </p:nvSpPr>
        <p:spPr>
          <a:xfrm>
            <a:off x="73152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</a:t>
            </a:r>
            <a:r>
              <a:rPr lang="en-US" sz="1400" b="1" kern="0" spc="300" dirty="0" smtClean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PROJECT</a:t>
            </a:r>
            <a:endParaRPr lang="en-US" sz="1400" dirty="0"/>
          </a:p>
        </p:txBody>
      </p:sp>
      <p:sp>
        <p:nvSpPr>
          <p:cNvPr id="118" name="Text 37"/>
          <p:cNvSpPr/>
          <p:nvPr/>
        </p:nvSpPr>
        <p:spPr>
          <a:xfrm>
            <a:off x="731520" y="228600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Suricata IDS Monitoring</a:t>
            </a:r>
            <a:endParaRPr lang="en-US" sz="4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Dashboard</a:t>
            </a:r>
            <a:endParaRPr lang="en-US" sz="4200" dirty="0"/>
          </a:p>
        </p:txBody>
      </p:sp>
      <p:sp>
        <p:nvSpPr>
          <p:cNvPr id="119" name="Text 38"/>
          <p:cNvSpPr/>
          <p:nvPr/>
        </p:nvSpPr>
        <p:spPr>
          <a:xfrm>
            <a:off x="731520" y="41605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lab for intrusion detection, plus a dashboard built from scratch to view and manage the alerts.</a:t>
            </a:r>
            <a:endParaRPr lang="en-US" sz="1450" dirty="0"/>
          </a:p>
        </p:txBody>
      </p:sp>
      <p:sp>
        <p:nvSpPr>
          <p:cNvPr id="120" name="Shape 39"/>
          <p:cNvSpPr/>
          <p:nvPr/>
        </p:nvSpPr>
        <p:spPr>
          <a:xfrm>
            <a:off x="731520" y="5074920"/>
            <a:ext cx="2011680" cy="0"/>
          </a:xfrm>
          <a:prstGeom prst="line">
            <a:avLst/>
          </a:prstGeom>
          <a:noFill/>
          <a:ln w="31750">
            <a:solidFill>
              <a:srgbClr val="00D9A3"/>
            </a:solidFill>
            <a:prstDash val="solid"/>
          </a:ln>
        </p:spPr>
      </p:sp>
      <p:sp>
        <p:nvSpPr>
          <p:cNvPr id="121" name="Text 40"/>
          <p:cNvSpPr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Sameeha</a:t>
            </a:r>
            <a:r>
              <a:rPr lang="en-US" sz="1300" b="1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Shahid | BSCS23157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2" name="Shape 1"/>
          <p:cNvSpPr/>
          <p:nvPr/>
        </p:nvSpPr>
        <p:spPr>
          <a:xfrm>
            <a:off x="87782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3" name="Shape 2"/>
          <p:cNvSpPr/>
          <p:nvPr/>
        </p:nvSpPr>
        <p:spPr>
          <a:xfrm>
            <a:off x="87782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4" name="Shape 3"/>
          <p:cNvSpPr/>
          <p:nvPr/>
        </p:nvSpPr>
        <p:spPr>
          <a:xfrm>
            <a:off x="87782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5" name="Shape 4"/>
          <p:cNvSpPr/>
          <p:nvPr/>
        </p:nvSpPr>
        <p:spPr>
          <a:xfrm>
            <a:off x="87782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6" name="Shape 5"/>
          <p:cNvSpPr/>
          <p:nvPr/>
        </p:nvSpPr>
        <p:spPr>
          <a:xfrm>
            <a:off x="87782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7" name="Shape 6"/>
          <p:cNvSpPr/>
          <p:nvPr/>
        </p:nvSpPr>
        <p:spPr>
          <a:xfrm>
            <a:off x="928116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8" name="Shape 7"/>
          <p:cNvSpPr/>
          <p:nvPr/>
        </p:nvSpPr>
        <p:spPr>
          <a:xfrm>
            <a:off x="928116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9" name="Shape 8"/>
          <p:cNvSpPr/>
          <p:nvPr/>
        </p:nvSpPr>
        <p:spPr>
          <a:xfrm>
            <a:off x="928116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0" name="Shape 9"/>
          <p:cNvSpPr/>
          <p:nvPr/>
        </p:nvSpPr>
        <p:spPr>
          <a:xfrm>
            <a:off x="928116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1" name="Shape 10"/>
          <p:cNvSpPr/>
          <p:nvPr/>
        </p:nvSpPr>
        <p:spPr>
          <a:xfrm>
            <a:off x="928116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2" name="Shape 11"/>
          <p:cNvSpPr/>
          <p:nvPr/>
        </p:nvSpPr>
        <p:spPr>
          <a:xfrm>
            <a:off x="928116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3" name="Shape 12"/>
          <p:cNvSpPr/>
          <p:nvPr/>
        </p:nvSpPr>
        <p:spPr>
          <a:xfrm>
            <a:off x="978408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4" name="Shape 13"/>
          <p:cNvSpPr/>
          <p:nvPr/>
        </p:nvSpPr>
        <p:spPr>
          <a:xfrm>
            <a:off x="978408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5" name="Shape 14"/>
          <p:cNvSpPr/>
          <p:nvPr/>
        </p:nvSpPr>
        <p:spPr>
          <a:xfrm>
            <a:off x="978408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6" name="Shape 15"/>
          <p:cNvSpPr/>
          <p:nvPr/>
        </p:nvSpPr>
        <p:spPr>
          <a:xfrm>
            <a:off x="978408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7" name="Shape 16"/>
          <p:cNvSpPr/>
          <p:nvPr/>
        </p:nvSpPr>
        <p:spPr>
          <a:xfrm>
            <a:off x="978408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8" name="Shape 17"/>
          <p:cNvSpPr/>
          <p:nvPr/>
        </p:nvSpPr>
        <p:spPr>
          <a:xfrm>
            <a:off x="978408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9" name="Shape 18"/>
          <p:cNvSpPr/>
          <p:nvPr/>
        </p:nvSpPr>
        <p:spPr>
          <a:xfrm>
            <a:off x="1028700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0" name="Shape 19"/>
          <p:cNvSpPr/>
          <p:nvPr/>
        </p:nvSpPr>
        <p:spPr>
          <a:xfrm>
            <a:off x="1028700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1" name="Shape 20"/>
          <p:cNvSpPr/>
          <p:nvPr/>
        </p:nvSpPr>
        <p:spPr>
          <a:xfrm>
            <a:off x="1028700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2" name="Shape 21"/>
          <p:cNvSpPr/>
          <p:nvPr/>
        </p:nvSpPr>
        <p:spPr>
          <a:xfrm>
            <a:off x="1028700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3" name="Shape 22"/>
          <p:cNvSpPr/>
          <p:nvPr/>
        </p:nvSpPr>
        <p:spPr>
          <a:xfrm>
            <a:off x="1028700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4" name="Shape 23"/>
          <p:cNvSpPr/>
          <p:nvPr/>
        </p:nvSpPr>
        <p:spPr>
          <a:xfrm>
            <a:off x="1028700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5" name="Shape 24"/>
          <p:cNvSpPr/>
          <p:nvPr/>
        </p:nvSpPr>
        <p:spPr>
          <a:xfrm>
            <a:off x="1078992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6" name="Shape 25"/>
          <p:cNvSpPr/>
          <p:nvPr/>
        </p:nvSpPr>
        <p:spPr>
          <a:xfrm>
            <a:off x="1078992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7" name="Shape 26"/>
          <p:cNvSpPr/>
          <p:nvPr/>
        </p:nvSpPr>
        <p:spPr>
          <a:xfrm>
            <a:off x="1078992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8" name="Shape 27"/>
          <p:cNvSpPr/>
          <p:nvPr/>
        </p:nvSpPr>
        <p:spPr>
          <a:xfrm>
            <a:off x="1078992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9" name="Shape 28"/>
          <p:cNvSpPr/>
          <p:nvPr/>
        </p:nvSpPr>
        <p:spPr>
          <a:xfrm>
            <a:off x="1078992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0" name="Shape 29"/>
          <p:cNvSpPr/>
          <p:nvPr/>
        </p:nvSpPr>
        <p:spPr>
          <a:xfrm>
            <a:off x="1078992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1" name="Shape 30"/>
          <p:cNvSpPr/>
          <p:nvPr/>
        </p:nvSpPr>
        <p:spPr>
          <a:xfrm>
            <a:off x="112928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2" name="Shape 31"/>
          <p:cNvSpPr/>
          <p:nvPr/>
        </p:nvSpPr>
        <p:spPr>
          <a:xfrm>
            <a:off x="112928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3" name="Shape 32"/>
          <p:cNvSpPr/>
          <p:nvPr/>
        </p:nvSpPr>
        <p:spPr>
          <a:xfrm>
            <a:off x="112928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4" name="Shape 33"/>
          <p:cNvSpPr/>
          <p:nvPr/>
        </p:nvSpPr>
        <p:spPr>
          <a:xfrm>
            <a:off x="112928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5" name="Shape 34"/>
          <p:cNvSpPr/>
          <p:nvPr/>
        </p:nvSpPr>
        <p:spPr>
          <a:xfrm>
            <a:off x="112928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6" name="Shape 35"/>
          <p:cNvSpPr/>
          <p:nvPr/>
        </p:nvSpPr>
        <p:spPr>
          <a:xfrm>
            <a:off x="112928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8" name="Text 37"/>
          <p:cNvSpPr/>
          <p:nvPr/>
        </p:nvSpPr>
        <p:spPr>
          <a:xfrm>
            <a:off x="469054" y="3048005"/>
            <a:ext cx="47972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endParaRPr lang="en-US" sz="5000" dirty="0"/>
          </a:p>
        </p:txBody>
      </p:sp>
      <p:sp>
        <p:nvSpPr>
          <p:cNvPr id="46" name="Text 37"/>
          <p:cNvSpPr/>
          <p:nvPr/>
        </p:nvSpPr>
        <p:spPr>
          <a:xfrm>
            <a:off x="382693" y="3048005"/>
            <a:ext cx="7550573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6000" b="1" kern="0" spc="200" dirty="0" smtClean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6000" b="1" kern="0" spc="200" dirty="0">
              <a:solidFill>
                <a:srgbClr val="00D9A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28312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</a:t>
            </a:r>
            <a:r>
              <a:rPr lang="en-US" sz="2700" b="1" dirty="0" smtClean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covers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parts: a live detection lab, a rule dataset built from scratch, and a dashboard to read and validate what the lab finds.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632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Lab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2880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3-VM isolated network on VMware (attacker, target, sensor)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8.0.6 monitoring the shared subnet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malware PCAPs replayed end-to-end (C2, recon, exfiltration)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06240" y="214884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80560" y="2423160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3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30632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Dataset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3520440"/>
            <a:ext cx="2880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 </a:t>
            </a: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Open rules scraped </a:t>
            </a: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proof point for </a:t>
            </a: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metadata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88,391 rules from community </a:t>
            </a: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sampled from OISF's public feeds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</a:t>
            </a: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datasets, </a:t>
            </a: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query or enrich with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14884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423160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3816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3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30632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3520440"/>
            <a:ext cx="2880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scratch with Streamlit, not an off-the-shelf tool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 so alerts persist, not just in memory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enriched with its rule's message &amp; severity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 smtClean="0">
                <a:solidFill>
                  <a:srgbClr val="00D9A3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LAB ARCHITECTURE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 isolated 3-VM detection lab</a:t>
            </a:r>
            <a:endParaRPr lang="en-US" sz="2800" b="1" dirty="0">
              <a:solidFill>
                <a:srgbClr val="1C1F24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5C636E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 environment was deliberately separated from the host network: VMnet1 carried the attack/test traffic while each VM retained NAT for package updates and internet access.</a:t>
            </a:r>
            <a:endParaRPr lang="en-US" sz="1200" dirty="0">
              <a:solidFill>
                <a:srgbClr val="5C636E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261872" y="2514600"/>
            <a:ext cx="923544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32A3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VMnet1 — Host-only detection network  |  192.168.93.0/24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53312" y="2999232"/>
            <a:ext cx="24688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517904" y="3145536"/>
            <a:ext cx="21396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2B5CB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7904" y="3529584"/>
            <a:ext cx="2139696" cy="4462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 smtClean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Attacker</a:t>
            </a:r>
            <a:r>
              <a:rPr sz="1150" b="0" dirty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
SSH + traffic generation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931920" y="3410712"/>
            <a:ext cx="484631" cy="292608"/>
          </a:xfrm>
          <a:prstGeom prst="rightArrow">
            <a:avLst/>
          </a:prstGeom>
          <a:solidFill>
            <a:srgbClr val="2EDEB3"/>
          </a:solidFill>
          <a:ln>
            <a:solidFill>
              <a:srgbClr val="2B5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07991" y="2999232"/>
            <a:ext cx="24688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72583" y="3145536"/>
            <a:ext cx="21396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48855D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Ubuntu-Suricata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3" y="3529584"/>
            <a:ext cx="2139696" cy="4462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 smtClean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Sensor</a:t>
            </a:r>
            <a:r>
              <a:rPr sz="1150" b="0" dirty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
</a:t>
            </a:r>
            <a:r>
              <a:rPr sz="1150" b="0" dirty="0" err="1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Suricata</a:t>
            </a:r>
            <a:r>
              <a:rPr sz="1150" b="0" dirty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/ ens34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5744" y="3410712"/>
            <a:ext cx="484632" cy="292608"/>
          </a:xfrm>
          <a:prstGeom prst="rightArrow">
            <a:avLst/>
          </a:prstGeom>
          <a:solidFill>
            <a:srgbClr val="2EDEB3"/>
          </a:solidFill>
          <a:ln>
            <a:solidFill>
              <a:srgbClr val="2B5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662672" y="2999232"/>
            <a:ext cx="24688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827264" y="3145536"/>
            <a:ext cx="21396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2B5CB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Ubuntu-Benign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27264" y="3529584"/>
            <a:ext cx="2139696" cy="4462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 smtClean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Target</a:t>
            </a:r>
            <a:r>
              <a:rPr sz="1150" b="0" dirty="0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
Apache + </a:t>
            </a:r>
            <a:r>
              <a:rPr sz="1150" b="0" dirty="0" err="1">
                <a:solidFill>
                  <a:srgbClr val="1C1F24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vsftpd</a:t>
            </a:r>
            <a:endParaRPr sz="1150" b="0" dirty="0">
              <a:solidFill>
                <a:srgbClr val="1C1F24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7" name="Shape 6"/>
          <p:cNvSpPr/>
          <p:nvPr/>
        </p:nvSpPr>
        <p:spPr>
          <a:xfrm>
            <a:off x="928116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3" name="Shape 12"/>
          <p:cNvSpPr/>
          <p:nvPr/>
        </p:nvSpPr>
        <p:spPr>
          <a:xfrm>
            <a:off x="978408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9" name="Shape 18"/>
          <p:cNvSpPr/>
          <p:nvPr/>
        </p:nvSpPr>
        <p:spPr>
          <a:xfrm>
            <a:off x="1028700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5" name="Shape 24"/>
          <p:cNvSpPr/>
          <p:nvPr/>
        </p:nvSpPr>
        <p:spPr>
          <a:xfrm>
            <a:off x="1078992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1" name="Shape 30"/>
          <p:cNvSpPr/>
          <p:nvPr/>
        </p:nvSpPr>
        <p:spPr>
          <a:xfrm>
            <a:off x="112928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43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BASICS</a:t>
            </a:r>
            <a:endParaRPr lang="en-US" sz="1250" dirty="0"/>
          </a:p>
        </p:txBody>
      </p:sp>
      <p:sp>
        <p:nvSpPr>
          <p:cNvPr id="44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Installing and configuring Suricata</a:t>
            </a:r>
            <a:endParaRPr lang="en-US" sz="2800" dirty="0"/>
          </a:p>
        </p:txBody>
      </p:sp>
      <p:sp>
        <p:nvSpPr>
          <p:cNvPr id="45" name="Text 2"/>
          <p:cNvSpPr/>
          <p:nvPr/>
        </p:nvSpPr>
        <p:spPr>
          <a:xfrm>
            <a:off x="548640" y="1691640"/>
            <a:ext cx="57607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OISF's official PPA for a current, maintained version.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HOME_NET and pointed capture at the correct network interface, so Suricata sees real traffic between the attacker and target.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the rule set with suricata-update (Emerging Threats Open by default</a:t>
            </a:r>
            <a:r>
              <a:rPr lang="en-US" sz="140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added rules from 14 other sources afterwards. 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the config before running it live.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it in the background and confirmed alerts by scanning the target from Kali</a:t>
            </a:r>
            <a:r>
              <a:rPr lang="en-US" sz="140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</p:txBody>
      </p:sp>
      <p:sp>
        <p:nvSpPr>
          <p:cNvPr id="46" name="Shape 3"/>
          <p:cNvSpPr/>
          <p:nvPr/>
        </p:nvSpPr>
        <p:spPr>
          <a:xfrm>
            <a:off x="6720840" y="1737360"/>
            <a:ext cx="4892040" cy="1234440"/>
          </a:xfrm>
          <a:prstGeom prst="roundRect">
            <a:avLst>
              <a:gd name="adj" fmla="val 666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47" name="Text 4"/>
          <p:cNvSpPr/>
          <p:nvPr/>
        </p:nvSpPr>
        <p:spPr>
          <a:xfrm>
            <a:off x="6995160" y="187452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5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137,759</a:t>
            </a:r>
            <a:endParaRPr lang="en-US" sz="2500" dirty="0"/>
          </a:p>
        </p:txBody>
      </p:sp>
      <p:sp>
        <p:nvSpPr>
          <p:cNvPr id="48" name="Text 5"/>
          <p:cNvSpPr/>
          <p:nvPr/>
        </p:nvSpPr>
        <p:spPr>
          <a:xfrm>
            <a:off x="6995160" y="248716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smtClean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rules </a:t>
            </a:r>
            <a:r>
              <a:rPr lang="en-US" sz="1250" dirty="0" smtClean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in </a:t>
            </a:r>
            <a:r>
              <a:rPr lang="en-US" sz="1250" dirty="0" err="1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250" dirty="0" err="1" smtClean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uricata</a:t>
            </a:r>
            <a:endParaRPr lang="en-US" sz="1250" dirty="0"/>
          </a:p>
        </p:txBody>
      </p:sp>
      <p:sp>
        <p:nvSpPr>
          <p:cNvPr id="49" name="Shape 6"/>
          <p:cNvSpPr/>
          <p:nvPr/>
        </p:nvSpPr>
        <p:spPr>
          <a:xfrm>
            <a:off x="6720840" y="3218688"/>
            <a:ext cx="4892040" cy="1234440"/>
          </a:xfrm>
          <a:prstGeom prst="roundRect">
            <a:avLst>
              <a:gd name="adj" fmla="val 666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50" name="Text 7"/>
          <p:cNvSpPr/>
          <p:nvPr/>
        </p:nvSpPr>
        <p:spPr>
          <a:xfrm>
            <a:off x="6995160" y="3355848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8.0.6</a:t>
            </a:r>
            <a:endParaRPr lang="en-US" sz="2500" dirty="0"/>
          </a:p>
        </p:txBody>
      </p:sp>
      <p:sp>
        <p:nvSpPr>
          <p:cNvPr id="51" name="Text 8"/>
          <p:cNvSpPr/>
          <p:nvPr/>
        </p:nvSpPr>
        <p:spPr>
          <a:xfrm>
            <a:off x="6995160" y="396849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version</a:t>
            </a:r>
            <a:endParaRPr lang="en-US" sz="1250" dirty="0"/>
          </a:p>
        </p:txBody>
      </p:sp>
      <p:sp>
        <p:nvSpPr>
          <p:cNvPr id="52" name="Shape 9"/>
          <p:cNvSpPr/>
          <p:nvPr/>
        </p:nvSpPr>
        <p:spPr>
          <a:xfrm>
            <a:off x="6720840" y="4700016"/>
            <a:ext cx="4892040" cy="1234440"/>
          </a:xfrm>
          <a:prstGeom prst="roundRect">
            <a:avLst>
              <a:gd name="adj" fmla="val 666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53" name="Text 10"/>
          <p:cNvSpPr/>
          <p:nvPr/>
        </p:nvSpPr>
        <p:spPr>
          <a:xfrm>
            <a:off x="6995160" y="4837176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192.168.93.0/24</a:t>
            </a:r>
            <a:endParaRPr lang="en-US" sz="2500" dirty="0"/>
          </a:p>
        </p:txBody>
      </p:sp>
      <p:sp>
        <p:nvSpPr>
          <p:cNvPr id="54" name="Text 11"/>
          <p:cNvSpPr/>
          <p:nvPr/>
        </p:nvSpPr>
        <p:spPr>
          <a:xfrm>
            <a:off x="6995160" y="544982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subnet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984012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RULES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of a rule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has two parts: a header, and a set of options inside the parentheses. Example below is a real rule that fired on my own Nmap traffic.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— before the parentheses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1920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— inside the parentheses, separated by semicolons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msg / sid / rev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53288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unique ID, and revision number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8529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/ pcre / nocase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30998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text or pattern to match in the traffic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4198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/ flowbits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66674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conditions, e.g. only established traffic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98678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fast_pattern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23367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field to check first, out of </a:t>
            </a:r>
            <a:r>
              <a:rPr lang="en-US" sz="10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rules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5537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/ reference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480060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tags, and links back to CVEs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51206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536752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repeat alerts, e.g. once per source per 5 min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355080" y="5806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rows above are options — they live inside the parentheses, after the header.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658706" y="2757598"/>
            <a:ext cx="4023360" cy="3509941"/>
          </a:xfrm>
          <a:prstGeom prst="roundRect">
            <a:avLst>
              <a:gd name="adj" fmla="val 1364"/>
            </a:avLst>
          </a:prstGeom>
          <a:solidFill>
            <a:srgbClr val="0D1117"/>
          </a:solidFill>
          <a:ln/>
          <a:effectLst>
            <a:outerShdw blurRad="127000" dist="50800" dir="5400000" algn="bl" rotWithShape="0">
              <a:srgbClr val="1A1F2B">
                <a:alpha val="25000"/>
              </a:srgbClr>
            </a:outerShdw>
          </a:effectLst>
        </p:spPr>
      </p:sp>
      <p:pic>
        <p:nvPicPr>
          <p:cNvPr id="30" name="Image 0" descr="/tmp/deck_assets/rule_gre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866" y="2894758"/>
            <a:ext cx="3749040" cy="2015385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95866" y="4920978"/>
            <a:ext cx="3749040" cy="45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rule, straight from suricata.rules on the sensor VM</a:t>
            </a:r>
            <a:endParaRPr lang="en-US" sz="1050" dirty="0"/>
          </a:p>
        </p:txBody>
      </p:sp>
      <p:sp>
        <p:nvSpPr>
          <p:cNvPr id="32" name="Text 12"/>
          <p:cNvSpPr txBox="1"/>
          <p:nvPr/>
        </p:nvSpPr>
        <p:spPr>
          <a:xfrm>
            <a:off x="531701" y="21892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 PROTOCOL   SRC_IP   SRC_PORT   DIRECTION   DST_IP   DST_PORT</a:t>
            </a:r>
            <a:endParaRPr lang="en-US" sz="11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SOURCES</a:t>
            </a:r>
            <a:endParaRPr lang="en-US" sz="1250" dirty="0"/>
          </a:p>
        </p:txBody>
      </p:sp>
      <p:sp>
        <p:nvSpPr>
          <p:cNvPr id="2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rules come </a:t>
            </a:r>
            <a:r>
              <a:rPr lang="en-US" sz="2600" b="1" dirty="0" smtClean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</a:t>
            </a:r>
            <a:endParaRPr lang="en-US" sz="2600" dirty="0"/>
          </a:p>
        </p:txBody>
      </p:sp>
      <p:sp>
        <p:nvSpPr>
          <p:cNvPr id="24" name="Text 2"/>
          <p:cNvSpPr/>
          <p:nvPr/>
        </p:nvSpPr>
        <p:spPr>
          <a:xfrm>
            <a:off x="548640" y="2874434"/>
            <a:ext cx="5943600" cy="14156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suricata-update list-sources </a:t>
            </a:r>
            <a:r>
              <a:rPr lang="en-US" sz="133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</a:t>
            </a: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free rule </a:t>
            </a:r>
            <a:r>
              <a:rPr lang="en-US" sz="133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which we added during configuration of </a:t>
            </a:r>
            <a:r>
              <a:rPr lang="en-US" sz="1330" dirty="0" err="1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</a:t>
            </a:r>
            <a:endParaRPr lang="en-US" sz="133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every free source at once, about 153,746 </a:t>
            </a:r>
            <a:r>
              <a:rPr lang="en-US" sz="133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rules </a:t>
            </a: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r>
              <a:rPr lang="en-US" sz="133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30" dirty="0"/>
          </a:p>
        </p:txBody>
      </p:sp>
      <p:sp>
        <p:nvSpPr>
          <p:cNvPr id="25" name="Shape 3"/>
          <p:cNvSpPr/>
          <p:nvPr/>
        </p:nvSpPr>
        <p:spPr>
          <a:xfrm>
            <a:off x="6629400" y="2507828"/>
            <a:ext cx="4937760" cy="2148840"/>
          </a:xfrm>
          <a:prstGeom prst="roundRect">
            <a:avLst>
              <a:gd name="adj" fmla="val 2553"/>
            </a:avLst>
          </a:prstGeom>
          <a:solidFill>
            <a:srgbClr val="000000"/>
          </a:solidFill>
          <a:ln/>
        </p:spPr>
      </p:sp>
      <p:pic>
        <p:nvPicPr>
          <p:cNvPr id="26" name="Image 0" descr="/tmp/deck_assets/list_sour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590801"/>
            <a:ext cx="4754880" cy="196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386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 smtClean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SIDS</a:t>
            </a:r>
            <a:endParaRPr lang="en-US" sz="1250" dirty="0"/>
          </a:p>
        </p:txBody>
      </p:sp>
      <p:sp>
        <p:nvSpPr>
          <p:cNvPr id="2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smtClean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SIDs work</a:t>
            </a:r>
            <a:endParaRPr lang="en-US" sz="2600" dirty="0"/>
          </a:p>
        </p:txBody>
      </p:sp>
      <p:sp>
        <p:nvSpPr>
          <p:cNvPr id="24" name="Text 2"/>
          <p:cNvSpPr/>
          <p:nvPr/>
        </p:nvSpPr>
        <p:spPr>
          <a:xfrm>
            <a:off x="548640" y="2817707"/>
            <a:ext cx="5943600" cy="125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3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</a:t>
            </a: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Signature ID, a rule's own tracking number. It is not the same as a CVE — the two are linked through the rule's reference field.</a:t>
            </a:r>
            <a:endParaRPr lang="en-US" sz="13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3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vendor has a reserved SID range, e.g. 2,000,000+ is Emerging Threats, 3,100,000+ is Stamus.</a:t>
            </a:r>
            <a:endParaRPr lang="en-US" sz="1330" dirty="0"/>
          </a:p>
        </p:txBody>
      </p:sp>
      <p:sp>
        <p:nvSpPr>
          <p:cNvPr id="27" name="Shape 4"/>
          <p:cNvSpPr/>
          <p:nvPr/>
        </p:nvSpPr>
        <p:spPr>
          <a:xfrm>
            <a:off x="6720840" y="2372360"/>
            <a:ext cx="4937760" cy="2148840"/>
          </a:xfrm>
          <a:prstGeom prst="roundRect">
            <a:avLst>
              <a:gd name="adj" fmla="val 2553"/>
            </a:avLst>
          </a:prstGeom>
          <a:solidFill>
            <a:srgbClr val="000000"/>
          </a:solidFill>
          <a:ln/>
        </p:spPr>
      </p:sp>
      <p:pic>
        <p:nvPicPr>
          <p:cNvPr id="28" name="Image 1" descr="/tmp/deck_assets/fetching_sourc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463800"/>
            <a:ext cx="4754880" cy="196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1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41"/>
          <p:cNvSpPr/>
          <p:nvPr/>
        </p:nvSpPr>
        <p:spPr>
          <a:xfrm>
            <a:off x="5852160" y="3611880"/>
            <a:ext cx="5806440" cy="1417321"/>
          </a:xfrm>
          <a:prstGeom prst="roundRect">
            <a:avLst>
              <a:gd name="adj" fmla="val 2712"/>
            </a:avLst>
          </a:prstGeom>
          <a:solidFill>
            <a:srgbClr val="1A1F2B"/>
          </a:solidFill>
          <a:ln/>
        </p:spPr>
      </p:sp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packet becomes an alert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029968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1312164" y="1801368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12164" y="18013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3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46888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7432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reaches the sensor's network card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031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660904" y="1600200"/>
            <a:ext cx="2029968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4428" y="1801368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4428" y="18013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30" dirty="0"/>
          </a:p>
        </p:txBody>
      </p:sp>
      <p:sp>
        <p:nvSpPr>
          <p:cNvPr id="15" name="Text 13"/>
          <p:cNvSpPr txBox="1"/>
          <p:nvPr/>
        </p:nvSpPr>
        <p:spPr>
          <a:xfrm>
            <a:off x="2752344" y="246888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752344" y="27432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Ethernet, IP, TCP, then the protocol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672584" y="21031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773168" y="1600200"/>
            <a:ext cx="2029968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/>
        </p:spPr>
      </p:sp>
      <p:sp>
        <p:nvSpPr>
          <p:cNvPr id="19" name="Shape 17"/>
          <p:cNvSpPr/>
          <p:nvPr/>
        </p:nvSpPr>
        <p:spPr>
          <a:xfrm>
            <a:off x="5536692" y="1801368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536692" y="18013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4864608" y="246888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filter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864608" y="27432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 narrows down which rules to check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784848" y="21031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885432" y="1600200"/>
            <a:ext cx="2029968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/>
        </p:spPr>
      </p:sp>
      <p:sp>
        <p:nvSpPr>
          <p:cNvPr id="25" name="Shape 23"/>
          <p:cNvSpPr/>
          <p:nvPr/>
        </p:nvSpPr>
        <p:spPr>
          <a:xfrm>
            <a:off x="7648956" y="1801368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48956" y="18013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30" dirty="0"/>
          </a:p>
        </p:txBody>
      </p:sp>
      <p:sp>
        <p:nvSpPr>
          <p:cNvPr id="27" name="Text 25"/>
          <p:cNvSpPr txBox="1"/>
          <p:nvPr/>
        </p:nvSpPr>
        <p:spPr>
          <a:xfrm>
            <a:off x="6976872" y="246888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match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976872" y="27432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rest of that rule's conditions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897112" y="21031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997696" y="1600200"/>
            <a:ext cx="2029968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/>
        </p:spPr>
      </p:sp>
      <p:sp>
        <p:nvSpPr>
          <p:cNvPr id="31" name="Shape 29"/>
          <p:cNvSpPr/>
          <p:nvPr/>
        </p:nvSpPr>
        <p:spPr>
          <a:xfrm>
            <a:off x="9761220" y="1801368"/>
            <a:ext cx="502920" cy="50292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761220" y="18013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30" dirty="0"/>
          </a:p>
        </p:txBody>
      </p:sp>
      <p:sp>
        <p:nvSpPr>
          <p:cNvPr id="33" name="Text 31"/>
          <p:cNvSpPr txBox="1"/>
          <p:nvPr/>
        </p:nvSpPr>
        <p:spPr>
          <a:xfrm>
            <a:off x="9089136" y="246888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log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089136" y="27432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fast.log and eve.json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52044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an Nmap scan from Kali put “Nmap” in its User-Agent. The rule matched on that field and fired within about a second.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126480" y="37490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replay methodology matters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126480" y="4160521"/>
            <a:ext cx="5303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pipeline is what every replayed attack PCAP has to pass through later in the project — capture, decode, fast filter, full match, alert. Validating it here on live Kali traffic is what made the PCAP replay results trustworthy.</a:t>
            </a:r>
            <a:endParaRPr lang="en-US" sz="1200" dirty="0"/>
          </a:p>
        </p:txBody>
      </p:sp>
      <p:sp>
        <p:nvSpPr>
          <p:cNvPr id="46" name="Shape 28"/>
          <p:cNvSpPr/>
          <p:nvPr/>
        </p:nvSpPr>
        <p:spPr>
          <a:xfrm>
            <a:off x="367285" y="4206240"/>
            <a:ext cx="5234092" cy="214884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/>
        </p:spPr>
      </p:sp>
      <p:pic>
        <p:nvPicPr>
          <p:cNvPr id="47" name="Image 0" descr="/tmp/deck_assets/live_ale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20540"/>
            <a:ext cx="4644119" cy="1728216"/>
          </a:xfrm>
          <a:prstGeom prst="rect">
            <a:avLst/>
          </a:prstGeom>
        </p:spPr>
      </p:pic>
      <p:sp>
        <p:nvSpPr>
          <p:cNvPr id="57" name="Text 29"/>
          <p:cNvSpPr/>
          <p:nvPr/>
        </p:nvSpPr>
        <p:spPr>
          <a:xfrm>
            <a:off x="1338189" y="5685282"/>
            <a:ext cx="32922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alerts, straight from fast.log during testing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2" name="Shape 1"/>
          <p:cNvSpPr/>
          <p:nvPr/>
        </p:nvSpPr>
        <p:spPr>
          <a:xfrm>
            <a:off x="87782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3" name="Shape 2"/>
          <p:cNvSpPr/>
          <p:nvPr/>
        </p:nvSpPr>
        <p:spPr>
          <a:xfrm>
            <a:off x="87782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4" name="Shape 3"/>
          <p:cNvSpPr/>
          <p:nvPr/>
        </p:nvSpPr>
        <p:spPr>
          <a:xfrm>
            <a:off x="87782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5" name="Shape 4"/>
          <p:cNvSpPr/>
          <p:nvPr/>
        </p:nvSpPr>
        <p:spPr>
          <a:xfrm>
            <a:off x="87782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6" name="Shape 5"/>
          <p:cNvSpPr/>
          <p:nvPr/>
        </p:nvSpPr>
        <p:spPr>
          <a:xfrm>
            <a:off x="87782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7" name="Shape 6"/>
          <p:cNvSpPr/>
          <p:nvPr/>
        </p:nvSpPr>
        <p:spPr>
          <a:xfrm>
            <a:off x="928116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8" name="Shape 7"/>
          <p:cNvSpPr/>
          <p:nvPr/>
        </p:nvSpPr>
        <p:spPr>
          <a:xfrm>
            <a:off x="928116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9" name="Shape 8"/>
          <p:cNvSpPr/>
          <p:nvPr/>
        </p:nvSpPr>
        <p:spPr>
          <a:xfrm>
            <a:off x="928116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0" name="Shape 9"/>
          <p:cNvSpPr/>
          <p:nvPr/>
        </p:nvSpPr>
        <p:spPr>
          <a:xfrm>
            <a:off x="928116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1" name="Shape 10"/>
          <p:cNvSpPr/>
          <p:nvPr/>
        </p:nvSpPr>
        <p:spPr>
          <a:xfrm>
            <a:off x="928116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2" name="Shape 11"/>
          <p:cNvSpPr/>
          <p:nvPr/>
        </p:nvSpPr>
        <p:spPr>
          <a:xfrm>
            <a:off x="928116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3" name="Shape 12"/>
          <p:cNvSpPr/>
          <p:nvPr/>
        </p:nvSpPr>
        <p:spPr>
          <a:xfrm>
            <a:off x="978408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4" name="Shape 13"/>
          <p:cNvSpPr/>
          <p:nvPr/>
        </p:nvSpPr>
        <p:spPr>
          <a:xfrm>
            <a:off x="978408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5" name="Shape 14"/>
          <p:cNvSpPr/>
          <p:nvPr/>
        </p:nvSpPr>
        <p:spPr>
          <a:xfrm>
            <a:off x="978408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6" name="Shape 15"/>
          <p:cNvSpPr/>
          <p:nvPr/>
        </p:nvSpPr>
        <p:spPr>
          <a:xfrm>
            <a:off x="978408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7" name="Shape 16"/>
          <p:cNvSpPr/>
          <p:nvPr/>
        </p:nvSpPr>
        <p:spPr>
          <a:xfrm>
            <a:off x="978408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8" name="Shape 17"/>
          <p:cNvSpPr/>
          <p:nvPr/>
        </p:nvSpPr>
        <p:spPr>
          <a:xfrm>
            <a:off x="978408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9" name="Shape 18"/>
          <p:cNvSpPr/>
          <p:nvPr/>
        </p:nvSpPr>
        <p:spPr>
          <a:xfrm>
            <a:off x="1028700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0" name="Shape 19"/>
          <p:cNvSpPr/>
          <p:nvPr/>
        </p:nvSpPr>
        <p:spPr>
          <a:xfrm>
            <a:off x="1028700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1" name="Shape 20"/>
          <p:cNvSpPr/>
          <p:nvPr/>
        </p:nvSpPr>
        <p:spPr>
          <a:xfrm>
            <a:off x="1028700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2" name="Shape 21"/>
          <p:cNvSpPr/>
          <p:nvPr/>
        </p:nvSpPr>
        <p:spPr>
          <a:xfrm>
            <a:off x="1028700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3" name="Shape 22"/>
          <p:cNvSpPr/>
          <p:nvPr/>
        </p:nvSpPr>
        <p:spPr>
          <a:xfrm>
            <a:off x="1028700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4" name="Shape 23"/>
          <p:cNvSpPr/>
          <p:nvPr/>
        </p:nvSpPr>
        <p:spPr>
          <a:xfrm>
            <a:off x="1028700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5" name="Shape 24"/>
          <p:cNvSpPr/>
          <p:nvPr/>
        </p:nvSpPr>
        <p:spPr>
          <a:xfrm>
            <a:off x="1078992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6" name="Shape 25"/>
          <p:cNvSpPr/>
          <p:nvPr/>
        </p:nvSpPr>
        <p:spPr>
          <a:xfrm>
            <a:off x="1078992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7" name="Shape 26"/>
          <p:cNvSpPr/>
          <p:nvPr/>
        </p:nvSpPr>
        <p:spPr>
          <a:xfrm>
            <a:off x="1078992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8" name="Shape 27"/>
          <p:cNvSpPr/>
          <p:nvPr/>
        </p:nvSpPr>
        <p:spPr>
          <a:xfrm>
            <a:off x="1078992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9" name="Shape 28"/>
          <p:cNvSpPr/>
          <p:nvPr/>
        </p:nvSpPr>
        <p:spPr>
          <a:xfrm>
            <a:off x="1078992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0" name="Shape 29"/>
          <p:cNvSpPr/>
          <p:nvPr/>
        </p:nvSpPr>
        <p:spPr>
          <a:xfrm>
            <a:off x="1078992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1" name="Shape 30"/>
          <p:cNvSpPr/>
          <p:nvPr/>
        </p:nvSpPr>
        <p:spPr>
          <a:xfrm>
            <a:off x="112928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2" name="Shape 31"/>
          <p:cNvSpPr/>
          <p:nvPr/>
        </p:nvSpPr>
        <p:spPr>
          <a:xfrm>
            <a:off x="112928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3" name="Shape 32"/>
          <p:cNvSpPr/>
          <p:nvPr/>
        </p:nvSpPr>
        <p:spPr>
          <a:xfrm>
            <a:off x="112928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4" name="Shape 33"/>
          <p:cNvSpPr/>
          <p:nvPr/>
        </p:nvSpPr>
        <p:spPr>
          <a:xfrm>
            <a:off x="112928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5" name="Shape 34"/>
          <p:cNvSpPr/>
          <p:nvPr/>
        </p:nvSpPr>
        <p:spPr>
          <a:xfrm>
            <a:off x="112928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6" name="Shape 35"/>
          <p:cNvSpPr/>
          <p:nvPr/>
        </p:nvSpPr>
        <p:spPr>
          <a:xfrm>
            <a:off x="112928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8" name="Text 37"/>
          <p:cNvSpPr/>
          <p:nvPr/>
        </p:nvSpPr>
        <p:spPr>
          <a:xfrm>
            <a:off x="469054" y="3048005"/>
            <a:ext cx="47972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endParaRPr lang="en-US" sz="5000" dirty="0"/>
          </a:p>
        </p:txBody>
      </p:sp>
      <p:sp>
        <p:nvSpPr>
          <p:cNvPr id="46" name="Text 37"/>
          <p:cNvSpPr/>
          <p:nvPr/>
        </p:nvSpPr>
        <p:spPr>
          <a:xfrm>
            <a:off x="382693" y="3048005"/>
            <a:ext cx="7550573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60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</a:t>
            </a:r>
            <a:r>
              <a:rPr lang="en-US" sz="6000" b="1" kern="0" spc="200" dirty="0" smtClean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6000" b="1" kern="0" spc="200" dirty="0">
              <a:solidFill>
                <a:srgbClr val="00D9A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83841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DATASET</a:t>
            </a:r>
            <a:endParaRPr lang="en-US" sz="1250" dirty="0"/>
          </a:p>
        </p:txBody>
      </p:sp>
      <p:sp>
        <p:nvSpPr>
          <p:cNvPr id="12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rule files into </a:t>
            </a:r>
            <a:r>
              <a:rPr lang="en-US" sz="2700" b="1" dirty="0" smtClean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</a:t>
            </a:r>
            <a:r>
              <a:rPr lang="en-US" sz="27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2700" dirty="0"/>
          </a:p>
        </p:txBody>
      </p:sp>
      <p:sp>
        <p:nvSpPr>
          <p:cNvPr id="13" name="Text 2"/>
          <p:cNvSpPr/>
          <p:nvPr/>
        </p:nvSpPr>
        <p:spPr>
          <a:xfrm>
            <a:off x="548640" y="1691640"/>
            <a:ext cx="60350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scripts </a:t>
            </a: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generate_rules_json.py &amp; et_scraping.py) </a:t>
            </a:r>
            <a:r>
              <a:rPr lang="en-US" sz="130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scrape rules from proof point for ET and from .rules files for the other 14 sources.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out sid, message, category, flow, and references into one consistent format for every source.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30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</a:t>
            </a: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</a:t>
            </a:r>
            <a:r>
              <a:rPr lang="en-US" sz="1300" dirty="0" smtClean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</a:t>
            </a: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malware, phishing, recon, and SQLi rules.</a:t>
            </a:r>
            <a:endParaRPr lang="en-US" sz="1300" dirty="0"/>
          </a:p>
        </p:txBody>
      </p:sp>
      <p:sp>
        <p:nvSpPr>
          <p:cNvPr id="14" name="Shape 3"/>
          <p:cNvSpPr/>
          <p:nvPr/>
        </p:nvSpPr>
        <p:spPr>
          <a:xfrm>
            <a:off x="7809658" y="1245453"/>
            <a:ext cx="2883746" cy="4716428"/>
          </a:xfrm>
          <a:prstGeom prst="roundRect">
            <a:avLst>
              <a:gd name="adj" fmla="val 1649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15" name="Text 4"/>
          <p:cNvSpPr/>
          <p:nvPr/>
        </p:nvSpPr>
        <p:spPr>
          <a:xfrm>
            <a:off x="8129697" y="1280167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INCLUDED</a:t>
            </a:r>
            <a:endParaRPr lang="en-US" sz="1150" dirty="0"/>
          </a:p>
        </p:txBody>
      </p:sp>
      <p:sp>
        <p:nvSpPr>
          <p:cNvPr id="16" name="Text 5"/>
          <p:cNvSpPr/>
          <p:nvPr/>
        </p:nvSpPr>
        <p:spPr>
          <a:xfrm>
            <a:off x="8129697" y="1846662"/>
            <a:ext cx="3122507" cy="37498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100" b="1" dirty="0" err="1" smtClean="0">
                <a:solidFill>
                  <a:schemeClr val="bg1"/>
                </a:solidFill>
              </a:rPr>
              <a:t>aleksibovellan</a:t>
            </a:r>
            <a:r>
              <a:rPr lang="en-US" sz="1100" b="1" dirty="0" smtClean="0">
                <a:solidFill>
                  <a:schemeClr val="bg1"/>
                </a:solidFill>
              </a:rPr>
              <a:t>/</a:t>
            </a:r>
            <a:r>
              <a:rPr lang="en-US" sz="1100" b="1" dirty="0" err="1" smtClean="0">
                <a:solidFill>
                  <a:schemeClr val="bg1"/>
                </a:solidFill>
              </a:rPr>
              <a:t>nmap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smtClean="0">
                <a:solidFill>
                  <a:schemeClr val="bg1"/>
                </a:solidFill>
              </a:rPr>
              <a:t>abuse.ch/</a:t>
            </a:r>
            <a:r>
              <a:rPr lang="en-US" sz="1100" b="1" dirty="0" err="1" smtClean="0">
                <a:solidFill>
                  <a:schemeClr val="bg1"/>
                </a:solidFill>
              </a:rPr>
              <a:t>urlhaus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smtClean="0">
                <a:solidFill>
                  <a:schemeClr val="bg1"/>
                </a:solidFill>
              </a:rPr>
              <a:t>abuse.ch/</a:t>
            </a:r>
            <a:r>
              <a:rPr lang="en-US" sz="1100" b="1" dirty="0" err="1" smtClean="0">
                <a:solidFill>
                  <a:schemeClr val="bg1"/>
                </a:solidFill>
              </a:rPr>
              <a:t>feodotracker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stamus</a:t>
            </a:r>
            <a:r>
              <a:rPr lang="en-US" sz="1100" b="1" dirty="0" smtClean="0">
                <a:solidFill>
                  <a:schemeClr val="bg1"/>
                </a:solidFill>
              </a:rPr>
              <a:t>/lateral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tgreen</a:t>
            </a:r>
            <a:r>
              <a:rPr lang="en-US" sz="1100" b="1" dirty="0" smtClean="0">
                <a:solidFill>
                  <a:schemeClr val="bg1"/>
                </a:solidFill>
              </a:rPr>
              <a:t>/hunting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ipfire</a:t>
            </a:r>
            <a:r>
              <a:rPr lang="en-US" sz="1100" b="1" dirty="0" smtClean="0">
                <a:solidFill>
                  <a:schemeClr val="bg1"/>
                </a:solidFill>
              </a:rPr>
              <a:t>/</a:t>
            </a:r>
            <a:r>
              <a:rPr lang="en-US" sz="1100" b="1" dirty="0" err="1" smtClean="0">
                <a:solidFill>
                  <a:schemeClr val="bg1"/>
                </a:solidFill>
              </a:rPr>
              <a:t>dbl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pawpatrules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smtClean="0">
                <a:solidFill>
                  <a:schemeClr val="bg1"/>
                </a:solidFill>
              </a:rPr>
              <a:t>et/open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etnetera</a:t>
            </a:r>
            <a:r>
              <a:rPr lang="en-US" sz="1100" b="1" dirty="0" smtClean="0">
                <a:solidFill>
                  <a:schemeClr val="bg1"/>
                </a:solidFill>
              </a:rPr>
              <a:t>/aggressive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smtClean="0">
                <a:solidFill>
                  <a:schemeClr val="bg1"/>
                </a:solidFill>
              </a:rPr>
              <a:t>abuse.ch/sslbl-ja3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smtClean="0">
                <a:solidFill>
                  <a:schemeClr val="bg1"/>
                </a:solidFill>
              </a:rPr>
              <a:t>abuse.ch/</a:t>
            </a:r>
            <a:r>
              <a:rPr lang="en-US" sz="1100" b="1" dirty="0" err="1" smtClean="0">
                <a:solidFill>
                  <a:schemeClr val="bg1"/>
                </a:solidFill>
              </a:rPr>
              <a:t>sslbl</a:t>
            </a:r>
            <a:r>
              <a:rPr lang="en-US" sz="1100" b="1" dirty="0" smtClean="0">
                <a:solidFill>
                  <a:schemeClr val="bg1"/>
                </a:solidFill>
              </a:rPr>
              <a:t>-blacklist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oisf</a:t>
            </a:r>
            <a:r>
              <a:rPr lang="en-US" sz="1100" b="1" dirty="0" smtClean="0">
                <a:solidFill>
                  <a:schemeClr val="bg1"/>
                </a:solidFill>
              </a:rPr>
              <a:t>/</a:t>
            </a:r>
            <a:r>
              <a:rPr lang="en-US" sz="1100" b="1" dirty="0" err="1" smtClean="0">
                <a:solidFill>
                  <a:schemeClr val="bg1"/>
                </a:solidFill>
              </a:rPr>
              <a:t>trafficid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ptrules</a:t>
            </a:r>
            <a:r>
              <a:rPr lang="en-US" sz="1100" b="1" dirty="0" smtClean="0">
                <a:solidFill>
                  <a:schemeClr val="bg1"/>
                </a:solidFill>
              </a:rPr>
              <a:t>/open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smtClean="0">
                <a:solidFill>
                  <a:schemeClr val="bg1"/>
                </a:solidFill>
              </a:rPr>
              <a:t>the-hunters-ledger/open</a:t>
            </a:r>
            <a:endParaRPr lang="en-US" sz="1100" b="1" dirty="0">
              <a:solidFill>
                <a:schemeClr val="bg1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chemeClr val="bg1"/>
                </a:solidFill>
              </a:rPr>
              <a:t>  </a:t>
            </a:r>
            <a:r>
              <a:rPr lang="en-US" sz="1100" b="1" dirty="0" err="1" smtClean="0">
                <a:solidFill>
                  <a:schemeClr val="bg1"/>
                </a:solidFill>
              </a:rPr>
              <a:t>julioliraup</a:t>
            </a:r>
            <a:r>
              <a:rPr lang="en-US" sz="1100" b="1" dirty="0" smtClean="0">
                <a:solidFill>
                  <a:schemeClr val="bg1"/>
                </a:solidFill>
              </a:rPr>
              <a:t>/</a:t>
            </a:r>
            <a:r>
              <a:rPr lang="en-US" sz="1100" b="1" dirty="0" err="1" smtClean="0">
                <a:solidFill>
                  <a:schemeClr val="bg1"/>
                </a:solidFill>
              </a:rPr>
              <a:t>antiphishing</a:t>
            </a:r>
            <a:endParaRPr lang="en-US" sz="11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81627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 smtClean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DETAILS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extra detail for </a:t>
            </a:r>
            <a:r>
              <a:rPr lang="en-US" sz="2700" b="1" dirty="0" smtClean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Emerging threat rules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file only has a short message. Proofpoint's own site has more: severity, category, and a full description for each rule.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list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41448"/>
            <a:ext cx="3429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~</a:t>
            </a:r>
            <a:r>
              <a:rPr lang="en-US" sz="110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 </a:t>
            </a: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IDs from sid-msg.map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0574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2441448"/>
            <a:ext cx="3429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Playwright + BeautifulSoup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each rule's page and pulls its details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0574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it reliable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441448"/>
            <a:ext cx="3429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progress every 25 rules, so it can resume if interrupted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a corrupted save file by rebuilding it from backups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5661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complete: all 70,991 SIDs accounted for, 0 failed, checkpoint and output cross-checked byte-for-byte on a 500-record sample.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3F5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89204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70,991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406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IDs read in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73552" y="47091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3F5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73552" y="489204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273552" y="54406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tabs </a:t>
            </a: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per rule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98464" y="47091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3F5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98464" y="489204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5998464" y="54406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saved per checkpoint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723376" y="47091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3F5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23376" y="4892040"/>
            <a:ext cx="2606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723376" y="54406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SIDs, final run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ENRICHMENT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Attaching rule context to every </a:t>
            </a:r>
            <a:r>
              <a:rPr lang="en-US" sz="2700" b="1" dirty="0" smtClean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 on the dashboard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datasets now feed the dashboard directly. Every alert shows its rule's own message, classification, and severity, not just the raw signature ID.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25856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suricata_et_rules.json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5877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en-US" sz="10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 </a:t>
            </a: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rule records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31012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suricata_community_sample.json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39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OISF Free-source </a:t>
            </a: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sample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2471081"/>
            <a:ext cx="1920240" cy="13123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on sid 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214884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1A1F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2331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SID-keyed </a:t>
            </a:r>
            <a:r>
              <a:rPr lang="en-US" sz="1350" b="1" dirty="0" smtClean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for dashboard enrichment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74320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lookup — one dict access per alert, not a per-render search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once at load time and cached, so the alerts table stays fast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cleanly to “N/A” for any SID outside both datasets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-113454" y="4735915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-113454" y="5284555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datasets </a:t>
            </a: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614507" y="4727448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 smtClean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70k</a:t>
            </a:r>
            <a:r>
              <a:rPr lang="en-US" sz="30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2614507" y="5276088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SIDs available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00441" y="4727448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O(1)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600441" y="5276088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per alert</a:t>
            </a:r>
            <a:endParaRPr lang="en-US" sz="1150" dirty="0"/>
          </a:p>
        </p:txBody>
      </p:sp>
      <p:sp>
        <p:nvSpPr>
          <p:cNvPr id="28" name="Text 19"/>
          <p:cNvSpPr txBox="1"/>
          <p:nvPr/>
        </p:nvSpPr>
        <p:spPr>
          <a:xfrm>
            <a:off x="5739555" y="4745736"/>
            <a:ext cx="3520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 smtClean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r>
              <a:rPr lang="en-US" sz="3000" b="1" dirty="0" smtClean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30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3000" dirty="0"/>
          </a:p>
        </p:txBody>
      </p:sp>
      <p:sp>
        <p:nvSpPr>
          <p:cNvPr id="29" name="Text 20"/>
          <p:cNvSpPr txBox="1"/>
          <p:nvPr/>
        </p:nvSpPr>
        <p:spPr>
          <a:xfrm>
            <a:off x="5739555" y="5294376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OISF SIDs available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2" name="Shape 1"/>
          <p:cNvSpPr/>
          <p:nvPr/>
        </p:nvSpPr>
        <p:spPr>
          <a:xfrm>
            <a:off x="87782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3" name="Shape 2"/>
          <p:cNvSpPr/>
          <p:nvPr/>
        </p:nvSpPr>
        <p:spPr>
          <a:xfrm>
            <a:off x="87782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4" name="Shape 3"/>
          <p:cNvSpPr/>
          <p:nvPr/>
        </p:nvSpPr>
        <p:spPr>
          <a:xfrm>
            <a:off x="87782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5" name="Shape 4"/>
          <p:cNvSpPr/>
          <p:nvPr/>
        </p:nvSpPr>
        <p:spPr>
          <a:xfrm>
            <a:off x="87782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6" name="Shape 5"/>
          <p:cNvSpPr/>
          <p:nvPr/>
        </p:nvSpPr>
        <p:spPr>
          <a:xfrm>
            <a:off x="87782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7" name="Shape 6"/>
          <p:cNvSpPr/>
          <p:nvPr/>
        </p:nvSpPr>
        <p:spPr>
          <a:xfrm>
            <a:off x="928116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8" name="Shape 7"/>
          <p:cNvSpPr/>
          <p:nvPr/>
        </p:nvSpPr>
        <p:spPr>
          <a:xfrm>
            <a:off x="928116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9" name="Shape 8"/>
          <p:cNvSpPr/>
          <p:nvPr/>
        </p:nvSpPr>
        <p:spPr>
          <a:xfrm>
            <a:off x="928116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0" name="Shape 9"/>
          <p:cNvSpPr/>
          <p:nvPr/>
        </p:nvSpPr>
        <p:spPr>
          <a:xfrm>
            <a:off x="928116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1" name="Shape 10"/>
          <p:cNvSpPr/>
          <p:nvPr/>
        </p:nvSpPr>
        <p:spPr>
          <a:xfrm>
            <a:off x="928116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2" name="Shape 11"/>
          <p:cNvSpPr/>
          <p:nvPr/>
        </p:nvSpPr>
        <p:spPr>
          <a:xfrm>
            <a:off x="928116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3" name="Shape 12"/>
          <p:cNvSpPr/>
          <p:nvPr/>
        </p:nvSpPr>
        <p:spPr>
          <a:xfrm>
            <a:off x="978408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4" name="Shape 13"/>
          <p:cNvSpPr/>
          <p:nvPr/>
        </p:nvSpPr>
        <p:spPr>
          <a:xfrm>
            <a:off x="978408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5" name="Shape 14"/>
          <p:cNvSpPr/>
          <p:nvPr/>
        </p:nvSpPr>
        <p:spPr>
          <a:xfrm>
            <a:off x="978408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6" name="Shape 15"/>
          <p:cNvSpPr/>
          <p:nvPr/>
        </p:nvSpPr>
        <p:spPr>
          <a:xfrm>
            <a:off x="978408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7" name="Shape 16"/>
          <p:cNvSpPr/>
          <p:nvPr/>
        </p:nvSpPr>
        <p:spPr>
          <a:xfrm>
            <a:off x="978408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8" name="Shape 17"/>
          <p:cNvSpPr/>
          <p:nvPr/>
        </p:nvSpPr>
        <p:spPr>
          <a:xfrm>
            <a:off x="978408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9" name="Shape 18"/>
          <p:cNvSpPr/>
          <p:nvPr/>
        </p:nvSpPr>
        <p:spPr>
          <a:xfrm>
            <a:off x="1028700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0" name="Shape 19"/>
          <p:cNvSpPr/>
          <p:nvPr/>
        </p:nvSpPr>
        <p:spPr>
          <a:xfrm>
            <a:off x="1028700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1" name="Shape 20"/>
          <p:cNvSpPr/>
          <p:nvPr/>
        </p:nvSpPr>
        <p:spPr>
          <a:xfrm>
            <a:off x="1028700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2" name="Shape 21"/>
          <p:cNvSpPr/>
          <p:nvPr/>
        </p:nvSpPr>
        <p:spPr>
          <a:xfrm>
            <a:off x="1028700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3" name="Shape 22"/>
          <p:cNvSpPr/>
          <p:nvPr/>
        </p:nvSpPr>
        <p:spPr>
          <a:xfrm>
            <a:off x="1028700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4" name="Shape 23"/>
          <p:cNvSpPr/>
          <p:nvPr/>
        </p:nvSpPr>
        <p:spPr>
          <a:xfrm>
            <a:off x="1028700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5" name="Shape 24"/>
          <p:cNvSpPr/>
          <p:nvPr/>
        </p:nvSpPr>
        <p:spPr>
          <a:xfrm>
            <a:off x="1078992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6" name="Shape 25"/>
          <p:cNvSpPr/>
          <p:nvPr/>
        </p:nvSpPr>
        <p:spPr>
          <a:xfrm>
            <a:off x="1078992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7" name="Shape 26"/>
          <p:cNvSpPr/>
          <p:nvPr/>
        </p:nvSpPr>
        <p:spPr>
          <a:xfrm>
            <a:off x="1078992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8" name="Shape 27"/>
          <p:cNvSpPr/>
          <p:nvPr/>
        </p:nvSpPr>
        <p:spPr>
          <a:xfrm>
            <a:off x="1078992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9" name="Shape 28"/>
          <p:cNvSpPr/>
          <p:nvPr/>
        </p:nvSpPr>
        <p:spPr>
          <a:xfrm>
            <a:off x="1078992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0" name="Shape 29"/>
          <p:cNvSpPr/>
          <p:nvPr/>
        </p:nvSpPr>
        <p:spPr>
          <a:xfrm>
            <a:off x="1078992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1" name="Shape 30"/>
          <p:cNvSpPr/>
          <p:nvPr/>
        </p:nvSpPr>
        <p:spPr>
          <a:xfrm>
            <a:off x="112928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2" name="Shape 31"/>
          <p:cNvSpPr/>
          <p:nvPr/>
        </p:nvSpPr>
        <p:spPr>
          <a:xfrm>
            <a:off x="112928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3" name="Shape 32"/>
          <p:cNvSpPr/>
          <p:nvPr/>
        </p:nvSpPr>
        <p:spPr>
          <a:xfrm>
            <a:off x="112928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4" name="Shape 33"/>
          <p:cNvSpPr/>
          <p:nvPr/>
        </p:nvSpPr>
        <p:spPr>
          <a:xfrm>
            <a:off x="112928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5" name="Shape 34"/>
          <p:cNvSpPr/>
          <p:nvPr/>
        </p:nvSpPr>
        <p:spPr>
          <a:xfrm>
            <a:off x="112928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6" name="Shape 35"/>
          <p:cNvSpPr/>
          <p:nvPr/>
        </p:nvSpPr>
        <p:spPr>
          <a:xfrm>
            <a:off x="112928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8" name="Text 37"/>
          <p:cNvSpPr/>
          <p:nvPr/>
        </p:nvSpPr>
        <p:spPr>
          <a:xfrm>
            <a:off x="469054" y="3048005"/>
            <a:ext cx="47972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8000"/>
              </a:lnSpc>
            </a:pPr>
            <a:endParaRPr lang="en-US" sz="5400" dirty="0"/>
          </a:p>
        </p:txBody>
      </p:sp>
      <p:sp>
        <p:nvSpPr>
          <p:cNvPr id="39" name="Text 37"/>
          <p:cNvSpPr/>
          <p:nvPr/>
        </p:nvSpPr>
        <p:spPr>
          <a:xfrm>
            <a:off x="382693" y="3048005"/>
            <a:ext cx="7550573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6000" b="1" kern="0" spc="200" dirty="0" smtClean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000" b="1" kern="0" spc="200" dirty="0">
              <a:solidFill>
                <a:srgbClr val="00D9A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36768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17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dashboard is built</a:t>
            </a:r>
            <a:endParaRPr lang="en-US" sz="2800" dirty="0"/>
          </a:p>
        </p:txBody>
      </p:sp>
      <p:sp>
        <p:nvSpPr>
          <p:cNvPr id="18" name="Text 2"/>
          <p:cNvSpPr/>
          <p:nvPr/>
        </p:nvSpPr>
        <p:spPr>
          <a:xfrm>
            <a:off x="548640" y="1343829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as a simple script that read alerts into memory. Now it's a Streamlit app backed by a real database, so nothing is lost on refresh or restart.</a:t>
            </a:r>
            <a:endParaRPr lang="en-US" sz="1300" dirty="0"/>
          </a:p>
        </p:txBody>
      </p:sp>
      <p:sp>
        <p:nvSpPr>
          <p:cNvPr id="19" name="Shape 3"/>
          <p:cNvSpPr/>
          <p:nvPr/>
        </p:nvSpPr>
        <p:spPr>
          <a:xfrm>
            <a:off x="640080" y="2685628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20" name="Text 4"/>
          <p:cNvSpPr/>
          <p:nvPr/>
        </p:nvSpPr>
        <p:spPr>
          <a:xfrm>
            <a:off x="841248" y="2795356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endParaRPr lang="en-US" sz="1300" dirty="0"/>
          </a:p>
        </p:txBody>
      </p:sp>
      <p:sp>
        <p:nvSpPr>
          <p:cNvPr id="21" name="Text 5"/>
          <p:cNvSpPr/>
          <p:nvPr/>
        </p:nvSpPr>
        <p:spPr>
          <a:xfrm>
            <a:off x="841248" y="3142828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app, layout, and tabs</a:t>
            </a:r>
            <a:endParaRPr lang="en-US" sz="1050" dirty="0"/>
          </a:p>
        </p:txBody>
      </p:sp>
      <p:sp>
        <p:nvSpPr>
          <p:cNvPr id="22" name="Shape 6"/>
          <p:cNvSpPr/>
          <p:nvPr/>
        </p:nvSpPr>
        <p:spPr>
          <a:xfrm>
            <a:off x="4251960" y="2685628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23" name="Text 7"/>
          <p:cNvSpPr/>
          <p:nvPr/>
        </p:nvSpPr>
        <p:spPr>
          <a:xfrm>
            <a:off x="4453128" y="2795356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ingestor.py</a:t>
            </a:r>
            <a:endParaRPr lang="en-US" sz="1300" dirty="0"/>
          </a:p>
        </p:txBody>
      </p:sp>
      <p:sp>
        <p:nvSpPr>
          <p:cNvPr id="24" name="Text 8"/>
          <p:cNvSpPr/>
          <p:nvPr/>
        </p:nvSpPr>
        <p:spPr>
          <a:xfrm>
            <a:off x="4453128" y="3142828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alerts into the database</a:t>
            </a:r>
            <a:endParaRPr lang="en-US" sz="1050" dirty="0"/>
          </a:p>
        </p:txBody>
      </p:sp>
      <p:sp>
        <p:nvSpPr>
          <p:cNvPr id="25" name="Shape 9"/>
          <p:cNvSpPr/>
          <p:nvPr/>
        </p:nvSpPr>
        <p:spPr>
          <a:xfrm>
            <a:off x="7863840" y="2685628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26" name="Text 10"/>
          <p:cNvSpPr/>
          <p:nvPr/>
        </p:nvSpPr>
        <p:spPr>
          <a:xfrm>
            <a:off x="8065008" y="2795356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alert_store.py</a:t>
            </a:r>
            <a:endParaRPr lang="en-US" sz="1300" dirty="0"/>
          </a:p>
        </p:txBody>
      </p:sp>
      <p:sp>
        <p:nvSpPr>
          <p:cNvPr id="27" name="Text 11"/>
          <p:cNvSpPr/>
          <p:nvPr/>
        </p:nvSpPr>
        <p:spPr>
          <a:xfrm>
            <a:off x="8065008" y="3142828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review status</a:t>
            </a:r>
            <a:endParaRPr lang="en-US" sz="1050" dirty="0"/>
          </a:p>
        </p:txBody>
      </p:sp>
      <p:sp>
        <p:nvSpPr>
          <p:cNvPr id="28" name="Shape 12"/>
          <p:cNvSpPr/>
          <p:nvPr/>
        </p:nvSpPr>
        <p:spPr>
          <a:xfrm>
            <a:off x="640080" y="3920068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29" name="Text 13"/>
          <p:cNvSpPr/>
          <p:nvPr/>
        </p:nvSpPr>
        <p:spPr>
          <a:xfrm>
            <a:off x="841248" y="4029796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data_loader.py</a:t>
            </a:r>
            <a:endParaRPr lang="en-US" sz="1300" dirty="0"/>
          </a:p>
        </p:txBody>
      </p:sp>
      <p:sp>
        <p:nvSpPr>
          <p:cNvPr id="30" name="Text 14"/>
          <p:cNvSpPr/>
          <p:nvPr/>
        </p:nvSpPr>
        <p:spPr>
          <a:xfrm>
            <a:off x="841248" y="4377268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rules catalog</a:t>
            </a:r>
            <a:endParaRPr lang="en-US" sz="1050" dirty="0"/>
          </a:p>
        </p:txBody>
      </p:sp>
      <p:sp>
        <p:nvSpPr>
          <p:cNvPr id="31" name="Shape 15"/>
          <p:cNvSpPr/>
          <p:nvPr/>
        </p:nvSpPr>
        <p:spPr>
          <a:xfrm>
            <a:off x="4251960" y="3920068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32" name="Text 16"/>
          <p:cNvSpPr/>
          <p:nvPr/>
        </p:nvSpPr>
        <p:spPr>
          <a:xfrm>
            <a:off x="4453128" y="4029796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filters.py</a:t>
            </a:r>
            <a:endParaRPr lang="en-US" sz="1300" dirty="0"/>
          </a:p>
        </p:txBody>
      </p:sp>
      <p:sp>
        <p:nvSpPr>
          <p:cNvPr id="33" name="Text 17"/>
          <p:cNvSpPr/>
          <p:nvPr/>
        </p:nvSpPr>
        <p:spPr>
          <a:xfrm>
            <a:off x="4453128" y="4377268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filter logic</a:t>
            </a:r>
            <a:endParaRPr lang="en-US" sz="1050" dirty="0"/>
          </a:p>
        </p:txBody>
      </p:sp>
      <p:sp>
        <p:nvSpPr>
          <p:cNvPr id="34" name="Shape 18"/>
          <p:cNvSpPr/>
          <p:nvPr/>
        </p:nvSpPr>
        <p:spPr>
          <a:xfrm>
            <a:off x="7863840" y="3920068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161B24"/>
          </a:solidFill>
          <a:ln w="12700">
            <a:solidFill>
              <a:srgbClr val="263041"/>
            </a:solidFill>
            <a:prstDash val="solid"/>
          </a:ln>
        </p:spPr>
      </p:sp>
      <p:sp>
        <p:nvSpPr>
          <p:cNvPr id="35" name="Text 19"/>
          <p:cNvSpPr/>
          <p:nvPr/>
        </p:nvSpPr>
        <p:spPr>
          <a:xfrm>
            <a:off x="8065008" y="4029796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charts.py</a:t>
            </a:r>
            <a:endParaRPr lang="en-US" sz="1300" dirty="0"/>
          </a:p>
        </p:txBody>
      </p:sp>
      <p:sp>
        <p:nvSpPr>
          <p:cNvPr id="36" name="Text 20"/>
          <p:cNvSpPr/>
          <p:nvPr/>
        </p:nvSpPr>
        <p:spPr>
          <a:xfrm>
            <a:off x="8065008" y="4377268"/>
            <a:ext cx="3026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charts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052086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17" name="Text 1"/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looks like</a:t>
            </a:r>
            <a:endParaRPr lang="en-US" sz="2800" dirty="0"/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735" y="1481328"/>
            <a:ext cx="10402850" cy="49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743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can do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57276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workflow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185623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alerts as reviewed or false positive, and reopen them later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0760" y="160020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02552" y="157276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urgency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702552" y="185623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by severity, with 1 as most severe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285292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repeat alerts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313639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repeated alerts into one row with a count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80760" y="288036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02552" y="285292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with regex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313639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regex search on signature and IP filters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413308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filters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441655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confidence, target, direction, and more, in the sidebar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416052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8076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02552" y="413308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look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702552" y="441655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severity, KPI row, consistent theme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44068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5440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170432" y="541324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CSV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1170432" y="569671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filtered results from either tab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80760" y="544068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80760" y="5440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702552" y="5413248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charts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6702552" y="5696712"/>
            <a:ext cx="4727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over time, top talkers, protocol breakdown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93776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it fast and reliable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50333" y="115214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dashboard polling a growing database creates its own problems. These are the ones that came up, and the fixes.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85623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auto-refresh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6888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doesn't rerun on new rows by itself — added @st.fragment(run_every=...) so the alert table ticks on its own.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85623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caching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46888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Re-parsing and re-sanitizing raw JSON on every refresh caused visible lag; now cached per alert ID so it's only done once.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400507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locking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61772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readers/writers on SQLite caused timeouts; fixed with a busy timeout and WAL mode so reads and writes don't block each other.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7490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309360" y="3977640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93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00507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rotation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61772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rotates eve.json daily; the dashboard's own SQLite table rotates at 25k rows so it doesn't grow unbounded.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the dashboard against the database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57607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filtered counts shown in the dashboard against a direct SQL query on alerts.db.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</a:t>
            </a: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Suricata's severity is inverted from what's intuitive: 1 is most severe, 3 is least — confirmed by checking the raw alert metadata, not assumed.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the ET scrape output against the checkpoint file to confirm no SIDs were silently dropped.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37960" y="2057400"/>
            <a:ext cx="5120640" cy="2726267"/>
          </a:xfrm>
          <a:prstGeom prst="roundRect">
            <a:avLst>
              <a:gd name="adj" fmla="val 1860"/>
            </a:avLst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12280" y="2286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check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269748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sqlite3 alerts.db "SELECT COUNT(*) FROM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alerts WHERE severity = 1;"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356616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compared line-for-line against what the dashboard's own severity filter reported for the same query — confirms the filter logic matches the data, not just the display.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87782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2" name="Shape 1"/>
          <p:cNvSpPr/>
          <p:nvPr/>
        </p:nvSpPr>
        <p:spPr>
          <a:xfrm>
            <a:off x="87782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3" name="Shape 2"/>
          <p:cNvSpPr/>
          <p:nvPr/>
        </p:nvSpPr>
        <p:spPr>
          <a:xfrm>
            <a:off x="87782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4" name="Shape 3"/>
          <p:cNvSpPr/>
          <p:nvPr/>
        </p:nvSpPr>
        <p:spPr>
          <a:xfrm>
            <a:off x="87782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5" name="Shape 4"/>
          <p:cNvSpPr/>
          <p:nvPr/>
        </p:nvSpPr>
        <p:spPr>
          <a:xfrm>
            <a:off x="87782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6" name="Shape 5"/>
          <p:cNvSpPr/>
          <p:nvPr/>
        </p:nvSpPr>
        <p:spPr>
          <a:xfrm>
            <a:off x="87782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7" name="Shape 6"/>
          <p:cNvSpPr/>
          <p:nvPr/>
        </p:nvSpPr>
        <p:spPr>
          <a:xfrm>
            <a:off x="928116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8" name="Shape 7"/>
          <p:cNvSpPr/>
          <p:nvPr/>
        </p:nvSpPr>
        <p:spPr>
          <a:xfrm>
            <a:off x="928116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89" name="Shape 8"/>
          <p:cNvSpPr/>
          <p:nvPr/>
        </p:nvSpPr>
        <p:spPr>
          <a:xfrm>
            <a:off x="928116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0" name="Shape 9"/>
          <p:cNvSpPr/>
          <p:nvPr/>
        </p:nvSpPr>
        <p:spPr>
          <a:xfrm>
            <a:off x="928116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1" name="Shape 10"/>
          <p:cNvSpPr/>
          <p:nvPr/>
        </p:nvSpPr>
        <p:spPr>
          <a:xfrm>
            <a:off x="928116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2" name="Shape 11"/>
          <p:cNvSpPr/>
          <p:nvPr/>
        </p:nvSpPr>
        <p:spPr>
          <a:xfrm>
            <a:off x="928116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3" name="Shape 12"/>
          <p:cNvSpPr/>
          <p:nvPr/>
        </p:nvSpPr>
        <p:spPr>
          <a:xfrm>
            <a:off x="978408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4" name="Shape 13"/>
          <p:cNvSpPr/>
          <p:nvPr/>
        </p:nvSpPr>
        <p:spPr>
          <a:xfrm>
            <a:off x="978408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5" name="Shape 14"/>
          <p:cNvSpPr/>
          <p:nvPr/>
        </p:nvSpPr>
        <p:spPr>
          <a:xfrm>
            <a:off x="978408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6" name="Shape 15"/>
          <p:cNvSpPr/>
          <p:nvPr/>
        </p:nvSpPr>
        <p:spPr>
          <a:xfrm>
            <a:off x="978408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7" name="Shape 16"/>
          <p:cNvSpPr/>
          <p:nvPr/>
        </p:nvSpPr>
        <p:spPr>
          <a:xfrm>
            <a:off x="978408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8" name="Shape 17"/>
          <p:cNvSpPr/>
          <p:nvPr/>
        </p:nvSpPr>
        <p:spPr>
          <a:xfrm>
            <a:off x="978408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99" name="Shape 18"/>
          <p:cNvSpPr/>
          <p:nvPr/>
        </p:nvSpPr>
        <p:spPr>
          <a:xfrm>
            <a:off x="1028700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0" name="Shape 19"/>
          <p:cNvSpPr/>
          <p:nvPr/>
        </p:nvSpPr>
        <p:spPr>
          <a:xfrm>
            <a:off x="1028700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1" name="Shape 20"/>
          <p:cNvSpPr/>
          <p:nvPr/>
        </p:nvSpPr>
        <p:spPr>
          <a:xfrm>
            <a:off x="1028700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2" name="Shape 21"/>
          <p:cNvSpPr/>
          <p:nvPr/>
        </p:nvSpPr>
        <p:spPr>
          <a:xfrm>
            <a:off x="1028700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3" name="Shape 22"/>
          <p:cNvSpPr/>
          <p:nvPr/>
        </p:nvSpPr>
        <p:spPr>
          <a:xfrm>
            <a:off x="1028700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4" name="Shape 23"/>
          <p:cNvSpPr/>
          <p:nvPr/>
        </p:nvSpPr>
        <p:spPr>
          <a:xfrm>
            <a:off x="1028700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5" name="Shape 24"/>
          <p:cNvSpPr/>
          <p:nvPr/>
        </p:nvSpPr>
        <p:spPr>
          <a:xfrm>
            <a:off x="1078992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6" name="Shape 25"/>
          <p:cNvSpPr/>
          <p:nvPr/>
        </p:nvSpPr>
        <p:spPr>
          <a:xfrm>
            <a:off x="1078992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7" name="Shape 26"/>
          <p:cNvSpPr/>
          <p:nvPr/>
        </p:nvSpPr>
        <p:spPr>
          <a:xfrm>
            <a:off x="1078992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8" name="Shape 27"/>
          <p:cNvSpPr/>
          <p:nvPr/>
        </p:nvSpPr>
        <p:spPr>
          <a:xfrm>
            <a:off x="1078992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09" name="Shape 28"/>
          <p:cNvSpPr/>
          <p:nvPr/>
        </p:nvSpPr>
        <p:spPr>
          <a:xfrm>
            <a:off x="1078992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0" name="Shape 29"/>
          <p:cNvSpPr/>
          <p:nvPr/>
        </p:nvSpPr>
        <p:spPr>
          <a:xfrm>
            <a:off x="1078992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1" name="Shape 30"/>
          <p:cNvSpPr/>
          <p:nvPr/>
        </p:nvSpPr>
        <p:spPr>
          <a:xfrm>
            <a:off x="11292840" y="5486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2" name="Shape 31"/>
          <p:cNvSpPr/>
          <p:nvPr/>
        </p:nvSpPr>
        <p:spPr>
          <a:xfrm>
            <a:off x="11292840" y="105156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3" name="Shape 32"/>
          <p:cNvSpPr/>
          <p:nvPr/>
        </p:nvSpPr>
        <p:spPr>
          <a:xfrm>
            <a:off x="11292840" y="155448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4" name="Shape 33"/>
          <p:cNvSpPr/>
          <p:nvPr/>
        </p:nvSpPr>
        <p:spPr>
          <a:xfrm>
            <a:off x="11292840" y="205740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5" name="Shape 34"/>
          <p:cNvSpPr/>
          <p:nvPr/>
        </p:nvSpPr>
        <p:spPr>
          <a:xfrm>
            <a:off x="11292840" y="256032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6" name="Shape 35"/>
          <p:cNvSpPr/>
          <p:nvPr/>
        </p:nvSpPr>
        <p:spPr>
          <a:xfrm>
            <a:off x="11292840" y="3063240"/>
            <a:ext cx="45720" cy="45720"/>
          </a:xfrm>
          <a:prstGeom prst="ellipse">
            <a:avLst/>
          </a:prstGeom>
          <a:solidFill>
            <a:srgbClr val="263041"/>
          </a:solidFill>
          <a:ln/>
        </p:spPr>
      </p:sp>
      <p:sp>
        <p:nvSpPr>
          <p:cNvPr id="118" name="Text 37"/>
          <p:cNvSpPr/>
          <p:nvPr/>
        </p:nvSpPr>
        <p:spPr>
          <a:xfrm>
            <a:off x="382693" y="3048005"/>
            <a:ext cx="7550573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60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SIMULATION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4090215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SIMULATION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real malware traffic into lab traffic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PCAPs sourced from real captured campaigns on malware-traffic-analysis.net's training </a:t>
            </a:r>
            <a:r>
              <a:rPr lang="en-US" sz="12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029968" cy="3108960"/>
          </a:xfrm>
          <a:prstGeom prst="roundRect">
            <a:avLst>
              <a:gd name="adj" fmla="val 3604"/>
            </a:avLst>
          </a:prstGeom>
          <a:solidFill>
            <a:srgbClr val="F3F5F8"/>
          </a:solidFill>
          <a:ln/>
        </p:spPr>
      </p:sp>
      <p:sp>
        <p:nvSpPr>
          <p:cNvPr id="8" name="Shape 6"/>
          <p:cNvSpPr/>
          <p:nvPr/>
        </p:nvSpPr>
        <p:spPr>
          <a:xfrm>
            <a:off x="1335024" y="2350008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35024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7296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tcpdump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520440"/>
            <a:ext cx="184708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traffic captured (or a public PCAP used directly)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2660904" y="2148840"/>
            <a:ext cx="2029968" cy="3108960"/>
          </a:xfrm>
          <a:prstGeom prst="roundRect">
            <a:avLst>
              <a:gd name="adj" fmla="val 3604"/>
            </a:avLst>
          </a:prstGeom>
          <a:solidFill>
            <a:srgbClr val="F3F5F8"/>
          </a:solidFill>
          <a:ln/>
        </p:spPr>
      </p:sp>
      <p:sp>
        <p:nvSpPr>
          <p:cNvPr id="14" name="Shape 12"/>
          <p:cNvSpPr/>
          <p:nvPr/>
        </p:nvSpPr>
        <p:spPr>
          <a:xfrm>
            <a:off x="3447288" y="2350008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47288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752344" y="29260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752344" y="317296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tshark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752344" y="3520440"/>
            <a:ext cx="184708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original capture's source/destination IP footprint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773168" y="2148840"/>
            <a:ext cx="2029968" cy="3108960"/>
          </a:xfrm>
          <a:prstGeom prst="roundRect">
            <a:avLst>
              <a:gd name="adj" fmla="val 3604"/>
            </a:avLst>
          </a:prstGeom>
          <a:solidFill>
            <a:srgbClr val="F3F5F8"/>
          </a:solidFill>
          <a:ln/>
        </p:spPr>
      </p:sp>
      <p:sp>
        <p:nvSpPr>
          <p:cNvPr id="20" name="Shape 18"/>
          <p:cNvSpPr/>
          <p:nvPr/>
        </p:nvSpPr>
        <p:spPr>
          <a:xfrm>
            <a:off x="5559552" y="2350008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59552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864608" y="29260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Remap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864608" y="317296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tcprewrite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520440"/>
            <a:ext cx="184708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source &amp; destination IPs into the lab's actual subnet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6885432" y="2148840"/>
            <a:ext cx="2029968" cy="3108960"/>
          </a:xfrm>
          <a:prstGeom prst="roundRect">
            <a:avLst>
              <a:gd name="adj" fmla="val 3604"/>
            </a:avLst>
          </a:prstGeom>
          <a:solidFill>
            <a:srgbClr val="F3F5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671816" y="2350008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671816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76872" y="29260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976872" y="317296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--fixcsum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3520440"/>
            <a:ext cx="184708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IP/TCP checksums — skip this and Suricata drops every packet as corrupted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8997696" y="2148840"/>
            <a:ext cx="2029968" cy="3108960"/>
          </a:xfrm>
          <a:prstGeom prst="roundRect">
            <a:avLst>
              <a:gd name="adj" fmla="val 3604"/>
            </a:avLst>
          </a:prstGeom>
          <a:solidFill>
            <a:srgbClr val="F3F5F8"/>
          </a:solidFill>
          <a:ln/>
        </p:spPr>
      </p:sp>
      <p:sp>
        <p:nvSpPr>
          <p:cNvPr id="32" name="Shape 30"/>
          <p:cNvSpPr/>
          <p:nvPr/>
        </p:nvSpPr>
        <p:spPr>
          <a:xfrm>
            <a:off x="9784080" y="2350008"/>
            <a:ext cx="457200" cy="457200"/>
          </a:xfrm>
          <a:prstGeom prst="ellipse">
            <a:avLst/>
          </a:prstGeom>
          <a:solidFill>
            <a:srgbClr val="1A1F2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784080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089136" y="29260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089136" y="3172968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tcpreplay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9089136" y="3520440"/>
            <a:ext cx="184708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the traffic onto the wire for Suricata to see live</a:t>
            </a:r>
            <a:endParaRPr lang="en-US" sz="93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Nikto web scan replay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replay test, run before the malware PCAPs, to prove the capture → remap → replay pipeline actually produces real Suricata alerts.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58521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a Nikto web scan against a target with tcpdump into sample_attack.pcap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Remapped source IPs into 15 simulated external attackers (10.0.0.0/28)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Remapped destination IPs across 5 targets on the real lab subnet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with tcpreplay and confirmed Suricata alerts matched the expected web-scan signatures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720840" y="2103120"/>
            <a:ext cx="4937760" cy="3840480"/>
          </a:xfrm>
          <a:prstGeom prst="roundRect">
            <a:avLst>
              <a:gd name="adj" fmla="val 1905"/>
            </a:avLst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3317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start with Nikto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743200"/>
            <a:ext cx="43891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known, well-documented scan gives an easy pass/fail check on the whole remap+replay methodology before trusting it on real malware captures, where a mistake would be harder to spot.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4206240"/>
            <a:ext cx="4389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pipeline </a:t>
            </a:r>
            <a:r>
              <a:rPr lang="en-US" sz="1200" b="1" i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moved </a:t>
            </a: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to the three malware attack flows next.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FLOW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Formbook / XLoader — C2 traffic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Commodity infostealer, command-and-control communication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65867"/>
            <a:ext cx="10515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Formbook (also distributed as XLoader) is a widely-used infostealer sold as malware-as-a-service, commonly delivered through phishing.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replayed capture carries its C2 check-in traffic — the callback pattern the infected host uses to reach its command </a:t>
            </a:r>
            <a:r>
              <a:rPr lang="en-US" sz="13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as attack flow 1 because C2 beaconing is one of the most common alert categories in a real SOC feed, a good baseline malware family to validate against.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5760720"/>
            <a:ext cx="9144000" cy="685800"/>
          </a:xfrm>
          <a:prstGeom prst="roundRect">
            <a:avLst>
              <a:gd name="adj" fmla="val 10667"/>
            </a:avLst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769187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real capture from malware-traffic-analysis.net, remapped and replayed through the lab exactly like the Nikto baseline.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FLOW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recon &amp; exploitation probes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 and exploitation-attempt traffic, distinct from Nikto's baseline scan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10515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chosen as a different traffic category from the Nikto baseline test and from the C2 flow — recon/exploitation probing rather than a single scanner's signature or a beacon.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“looking for a way in” stage of an attack: probing for exposed endpoints and testing exploitation attempts against them.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contrast for the dashboard: this traffic </a:t>
            </a:r>
            <a:r>
              <a:rPr lang="en-US" sz="13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</a:t>
            </a: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burst of related </a:t>
            </a:r>
            <a:r>
              <a:rPr lang="en-US" sz="13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5760720"/>
            <a:ext cx="9144000" cy="685800"/>
          </a:xfrm>
          <a:prstGeom prst="roundRect">
            <a:avLst>
              <a:gd name="adj" fmla="val 10667"/>
            </a:avLst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7607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real capture from malware-traffic-analysis.net, remapped and replayed through the lab exactly like the Nikto baseline.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FLOW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GuLoader → AgentTesla, FTP exfiltration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loader chain ending in data exfiltration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10515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GuLoader is a downloader stage, typically delivered via phishing, whose job is to fetch and launch the next-stage payload.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payload is AgentTesla, an infostealer that harvests credentials and system data from the infected host.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distinguishing piece of this flow: AgentTesla exfiltrates what it collects over FTP — the only one of the three flows with a visible data-exfiltration stage, not just infection or C2.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5760720"/>
            <a:ext cx="9144000" cy="685800"/>
          </a:xfrm>
          <a:prstGeom prst="roundRect">
            <a:avLst>
              <a:gd name="adj" fmla="val 10667"/>
            </a:avLst>
          </a:prstGeom>
          <a:solidFill>
            <a:srgbClr val="1A1F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7607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real capture from malware-traffic-analysis.net, remapped and replayed through the lab exactly like the Nikto baseline.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MULTI-ATTACKER SIMULATION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source IPs, one subnet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remap + replay methodology, distributed across 5 simulated attacker IPs hitting the lab subnet concurrently instead of one attacker at a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303520" cy="3794760"/>
          </a:xfrm>
          <a:prstGeom prst="roundRect">
            <a:avLst>
              <a:gd name="adj" fmla="val 1928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test this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46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flows tested detection one source at a time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environments see multiple attackers, or one attacker across multiple IPs, at once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stresses the dashboard features built to handle exactly this: grouping repeat alerts and filtering by 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2382520"/>
            <a:ext cx="5257800" cy="1889760"/>
          </a:xfrm>
          <a:prstGeom prst="roundRect">
            <a:avLst>
              <a:gd name="adj" fmla="val 1928"/>
            </a:avLst>
          </a:prstGeom>
          <a:solidFill>
            <a:srgbClr val="1A1F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261112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033606"/>
            <a:ext cx="4709160" cy="1136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alerted correctly across all 5 simulated sources hitting the subnet at once, and the dashboard's grouping view collapsed the resulting repeat alerts into countable rows instead of a flood of individual lines — exactly the workflow it was built for.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6401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SIMULATION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the replayed traffic right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remap step in the replay pipeline </a:t>
            </a:r>
            <a:r>
              <a:rPr lang="en-US" sz="12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</a:t>
            </a: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</a:t>
            </a:r>
            <a:r>
              <a:rPr lang="en-US" sz="1250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2402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mapping didn't work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24328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mapping the Kali VM's own IP as the source in third-party PCAPs — it never matched anything, since those captures don't contain that IP at all.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20574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22402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mapping fixed it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624328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to tcprewrite --srcipmap="0.0.0.0/0:$attacker/32", which reassigns any source IP in the capture to the simulated attacker — confirmed working end-to-end.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89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Flow-split bug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773168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0.0.0.0/0 for both source and destination map broke Suricata's flow tracking — same host ended up with two different fake identities.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0760" y="42062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4389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Paced replay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773168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Full-speed replay risked resource exhaustion on the sensor VM; capped with tcpreplay --pps=200 for a steady, realistic pace.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system, in one view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pipeline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(attacker)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606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53512" y="2148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53512" y="2148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replay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(remapped)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946904" y="2606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84064" y="2148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84064" y="2148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(sensor)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077456" y="2606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214616" y="2148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14616" y="2148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eve.json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fast.log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208008" y="2606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345168" y="2148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45168" y="2148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view)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862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A1F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069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intelligence pipeline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4434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 w="9525">
            <a:solidFill>
              <a:srgbClr val="00D9A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434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index.yaml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sid-msg.map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816352" y="4892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953512" y="4434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 w="9525">
            <a:solidFill>
              <a:srgbClr val="00D9A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53512" y="4434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(Playwright)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946904" y="4892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084064" y="4434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 w="9525">
            <a:solidFill>
              <a:srgbClr val="00D9A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84064" y="4434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077456" y="4892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214616" y="4434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 w="9525">
            <a:solidFill>
              <a:srgbClr val="00D9A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14616" y="4434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sid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208008" y="4892040"/>
            <a:ext cx="393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345168" y="4434840"/>
            <a:ext cx="2011680" cy="1280160"/>
          </a:xfrm>
          <a:prstGeom prst="roundRect">
            <a:avLst>
              <a:gd name="adj" fmla="val 4286"/>
            </a:avLst>
          </a:prstGeom>
          <a:solidFill>
            <a:srgbClr val="0D1117"/>
          </a:solidFill>
          <a:ln w="9525">
            <a:solidFill>
              <a:srgbClr val="00D9A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45168" y="44348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0807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pipelines meet at the dashboard — live alerts, enriched with rule context.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built this internship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3F5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security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rule engine internals &amp; SID system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capture/replay methodology (tcpdump, tshark, tcprewrite, tcpreplay)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1600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3F5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7830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14884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 async scraping at scale (checkpointing, retries, recovery)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structured datasets out of unstructured/scraped sources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3F5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app dev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1480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SQLite, from a memory-only script to a persistent app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review workflow around real analyst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35661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3F5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3749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under constraints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11480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Diagnosing corrupted files, concurrent writes, and resource limits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Verifying data integrity rather than assuming a pipeline worked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31520" y="26517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29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IDS Monitoring, Rule Dataset &amp; Attack Simulation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4023360"/>
            <a:ext cx="1005840" cy="0"/>
          </a:xfrm>
          <a:prstGeom prst="line">
            <a:avLst/>
          </a:prstGeom>
          <a:noFill/>
          <a:ln w="31750">
            <a:solidFill>
              <a:srgbClr val="00D9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github.com/Sameeha135/suricata-dashboard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537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github.com/Sameeha135/suricata-ids-lab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2487</Words>
  <Application>Microsoft Office PowerPoint</Application>
  <PresentationFormat>Widescreen</PresentationFormat>
  <Paragraphs>386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Microsoft account</cp:lastModifiedBy>
  <cp:revision>13</cp:revision>
  <dcterms:created xsi:type="dcterms:W3CDTF">2026-08-28T14:50:52Z</dcterms:created>
  <dcterms:modified xsi:type="dcterms:W3CDTF">2026-08-28T17:15:30Z</dcterms:modified>
</cp:coreProperties>
</file>